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2" r:id="rId3"/>
    <p:sldId id="278" r:id="rId5"/>
    <p:sldId id="276" r:id="rId6"/>
    <p:sldId id="280" r:id="rId7"/>
    <p:sldId id="274" r:id="rId8"/>
    <p:sldId id="260" r:id="rId9"/>
    <p:sldId id="263" r:id="rId10"/>
    <p:sldId id="291" r:id="rId11"/>
    <p:sldId id="266" r:id="rId12"/>
  </p:sldIdLst>
  <p:sldSz cx="9144000" cy="5143500" type="screen16x9"/>
  <p:notesSz cx="6858000" cy="9144000"/>
  <p:defaultTextStyle>
    <a:defPPr>
      <a:defRPr lang="zh-CN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f2ce02f-0fb2-48eb-a6d0-a833e45ee94b}">
          <p14:sldIdLst/>
        </p14:section>
        <p14:section name="无标题节" id="{a517e6a5-b1c4-4697-a93b-2fb510138f5c}">
          <p14:sldIdLst>
            <p14:sldId id="262"/>
            <p14:sldId id="278"/>
            <p14:sldId id="276"/>
            <p14:sldId id="280"/>
            <p14:sldId id="274"/>
            <p14:sldId id="260"/>
            <p14:sldId id="263"/>
            <p14:sldId id="291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30" userDrawn="1">
          <p15:clr>
            <a:srgbClr val="A4A3A4"/>
          </p15:clr>
        </p15:guide>
        <p15:guide id="2" pos="29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C6A9"/>
    <a:srgbClr val="7F7F7F"/>
    <a:srgbClr val="BFBFBF"/>
    <a:srgbClr val="215968"/>
    <a:srgbClr val="393D47"/>
    <a:srgbClr val="222732"/>
    <a:srgbClr val="1F6256"/>
    <a:srgbClr val="1C5449"/>
    <a:srgbClr val="090A0D"/>
    <a:srgbClr val="4A4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15" d="100"/>
          <a:sy n="115" d="100"/>
        </p:scale>
        <p:origin x="438" y="96"/>
      </p:cViewPr>
      <p:guideLst>
        <p:guide orient="horz" pos="1530"/>
        <p:guide pos="290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Century Gothic" panose="020B0502020202020204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entury Gothic" panose="020B0502020202020204"/>
                <a:ea typeface="微软雅黑" panose="020B0503020204020204" pitchFamily="34" charset="-122"/>
              </a:defRPr>
            </a:lvl1pPr>
          </a:lstStyle>
          <a:p>
            <a:fld id="{05D47E30-6D77-4A9B-B405-58FC9562726A}" type="datetimeFigureOut">
              <a:rPr lang="zh-CN" altLang="en-US"/>
            </a:fld>
            <a:endParaRPr lang="en-US" altLang="zh-CN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Century Gothic" panose="020B0502020202020204"/>
                <a:ea typeface="微软雅黑" panose="020B0503020204020204" pitchFamily="34" charset="-122"/>
              </a:defRPr>
            </a:lvl1pPr>
          </a:lstStyle>
          <a:p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entury Gothic" panose="020B0502020202020204"/>
                <a:ea typeface="微软雅黑" panose="020B0503020204020204" pitchFamily="34" charset="-122"/>
              </a:defRPr>
            </a:lvl1pPr>
          </a:lstStyle>
          <a:p>
            <a:fld id="{1BDF2FDB-C8D1-4B34-9353-F5B034477610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46C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rgbClr val="2227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/>
          <a:ea typeface="微软雅黑" panose="020B0503020204020204" pitchFamily="34" charset="-122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/>
          <a:ea typeface="微软雅黑" panose="020B0503020204020204" pitchFamily="34" charset="-122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/>
          <a:ea typeface="微软雅黑" panose="020B0503020204020204" pitchFamily="34" charset="-122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/>
          <a:ea typeface="微软雅黑" panose="020B0503020204020204" pitchFamily="34" charset="-122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/>
          <a:ea typeface="微软雅黑" panose="020B0503020204020204" pitchFamily="34" charset="-122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/>
          <a:ea typeface="微软雅黑" panose="020B0503020204020204" pitchFamily="34" charset="-122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/>
          <a:ea typeface="微软雅黑" panose="020B0503020204020204" pitchFamily="34" charset="-122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/>
          <a:ea typeface="微软雅黑" panose="020B0503020204020204" pitchFamily="34" charset="-122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6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6181725" y="1071563"/>
            <a:ext cx="1284288" cy="1284287"/>
          </a:xfrm>
          <a:prstGeom prst="ellipse">
            <a:avLst/>
          </a:prstGeom>
          <a:solidFill>
            <a:schemeClr val="accent1">
              <a:alpha val="78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9000" dirty="0">
              <a:solidFill>
                <a:srgbClr val="FFFFFF"/>
              </a:solidFill>
            </a:endParaRPr>
          </a:p>
        </p:txBody>
      </p:sp>
      <p:sp>
        <p:nvSpPr>
          <p:cNvPr id="19458" name="文本框 3"/>
          <p:cNvSpPr txBox="1">
            <a:spLocks noChangeArrowheads="1"/>
          </p:cNvSpPr>
          <p:nvPr/>
        </p:nvSpPr>
        <p:spPr bwMode="auto">
          <a:xfrm>
            <a:off x="5047457" y="2513013"/>
            <a:ext cx="37973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PART THREE  </a:t>
            </a:r>
            <a:r>
              <a:rPr kumimoji="1" lang="zh-CN" altLang="en-US" sz="2400" b="1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技术实现方案</a:t>
            </a:r>
            <a:endParaRPr kumimoji="1" lang="zh-CN" altLang="en-US" sz="2400" b="1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19459" name="文本框 4"/>
          <p:cNvSpPr txBox="1">
            <a:spLocks noChangeArrowheads="1"/>
          </p:cNvSpPr>
          <p:nvPr/>
        </p:nvSpPr>
        <p:spPr bwMode="auto">
          <a:xfrm>
            <a:off x="5389563" y="2998788"/>
            <a:ext cx="2927350" cy="6915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四层架构 · 技术栈 · 核心引擎 · 数据库 · </a:t>
            </a:r>
            <a:r>
              <a:rPr kumimoji="1"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AI </a:t>
            </a:r>
            <a:r>
              <a:rPr kumimoji="1"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服务 </a:t>
            </a:r>
            <a:endParaRPr kumimoji="1" lang="zh-CN" altLang="en-US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kumimoji="1" lang="en-US" altLang="zh-CN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kumimoji="1" lang="en-US" altLang="zh-CN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21438" y="955675"/>
            <a:ext cx="823912" cy="1476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9000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3</a:t>
            </a:r>
            <a:endParaRPr kumimoji="1" lang="zh-CN" altLang="en-US" sz="9000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5505" y="56198"/>
            <a:ext cx="4093845" cy="8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400" b="1" dirty="0">
                <a:solidFill>
                  <a:schemeClr val="bg1"/>
                </a:solidFill>
                <a:latin typeface="+mn-lt"/>
                <a:ea typeface="+mn-ea"/>
              </a:rPr>
              <a:t>MORE THAN TEMPLATE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系统架构：一套守得住红线的系统</a:t>
            </a: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9888" y="219075"/>
            <a:ext cx="495300" cy="474663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800" b="1" dirty="0">
                <a:solidFill>
                  <a:srgbClr val="FFFFFF"/>
                </a:solidFill>
              </a:rPr>
              <a:t>LOGO</a:t>
            </a:r>
            <a:endParaRPr kumimoji="1" lang="zh-CN" altLang="en-US" sz="800" b="1" dirty="0">
              <a:solidFill>
                <a:srgbClr val="FFFFFF"/>
              </a:solidFill>
            </a:endParaRPr>
          </a:p>
        </p:txBody>
      </p:sp>
      <p:sp>
        <p:nvSpPr>
          <p:cNvPr id="21507" name="文本框 3"/>
          <p:cNvSpPr txBox="1">
            <a:spLocks noChangeArrowheads="1"/>
          </p:cNvSpPr>
          <p:nvPr/>
        </p:nvSpPr>
        <p:spPr bwMode="auto">
          <a:xfrm>
            <a:off x="3589338" y="4737100"/>
            <a:ext cx="1965325" cy="220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kumimoji="1"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LOGO</a:t>
            </a:r>
            <a:r>
              <a:rPr kumimoji="1"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 </a:t>
            </a:r>
            <a:r>
              <a:rPr kumimoji="1"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|</a:t>
            </a:r>
            <a:r>
              <a:rPr kumimoji="1"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 </a:t>
            </a:r>
            <a:r>
              <a:rPr kumimoji="1"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COMPANY</a:t>
            </a:r>
            <a:endParaRPr kumimoji="1" lang="zh-CN" altLang="en-US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13" name="Connector 3"/>
          <p:cNvCxnSpPr/>
          <p:nvPr/>
        </p:nvCxnSpPr>
        <p:spPr>
          <a:xfrm rot="-5456">
            <a:off x="571505" y="641350"/>
            <a:ext cx="800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6C6A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4"/>
          <p:cNvSpPr/>
          <p:nvPr/>
        </p:nvSpPr>
        <p:spPr>
          <a:xfrm>
            <a:off x="3921760" y="736600"/>
            <a:ext cx="1289685" cy="355600"/>
          </a:xfrm>
          <a:prstGeom prst="roundRect">
            <a:avLst>
              <a:gd name="adj" fmla="val 21428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4902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总部 </a:t>
            </a:r>
            <a:endParaRPr lang="en-US" sz="1000" b="0" i="0" u="none" strike="noStrike">
              <a:solidFill>
                <a:srgbClr val="FFFFFF">
                  <a:alpha val="94902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AutoShape 5"/>
          <p:cNvSpPr/>
          <p:nvPr/>
        </p:nvSpPr>
        <p:spPr>
          <a:xfrm>
            <a:off x="4191000" y="1181100"/>
            <a:ext cx="762000" cy="127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C6A9">
                    <a:alpha val="7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↓ 鉴权</a:t>
            </a:r>
            <a:endParaRPr lang="en-US" sz="1000" b="0" i="0" u="none" strike="noStrike">
              <a:solidFill>
                <a:srgbClr val="46C6A9">
                  <a:alpha val="70196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AutoShape 6"/>
          <p:cNvSpPr/>
          <p:nvPr/>
        </p:nvSpPr>
        <p:spPr>
          <a:xfrm>
            <a:off x="2667000" y="1295400"/>
            <a:ext cx="3810000" cy="438150"/>
          </a:xfrm>
          <a:prstGeom prst="roundRect">
            <a:avLst>
              <a:gd name="adj" fmla="val 17391"/>
            </a:avLst>
          </a:prstGeom>
          <a:solidFill>
            <a:srgbClr val="46C6A9">
              <a:alpha val="15000"/>
            </a:srgbClr>
          </a:solidFill>
          <a:ln w="12700" cap="flat" cmpd="sng">
            <a:solidFill>
              <a:srgbClr val="46C6A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000"/>
          </a:p>
        </p:txBody>
      </p:sp>
      <p:sp>
        <p:nvSpPr>
          <p:cNvPr id="19" name="AutoShape 7"/>
          <p:cNvSpPr/>
          <p:nvPr/>
        </p:nvSpPr>
        <p:spPr>
          <a:xfrm>
            <a:off x="2762250" y="1352550"/>
            <a:ext cx="11430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前端 React 18</a:t>
            </a:r>
            <a:endParaRPr lang="en-US" sz="1000" b="1" i="0" u="none" strike="noStrike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AutoShape 8"/>
          <p:cNvSpPr/>
          <p:nvPr/>
        </p:nvSpPr>
        <p:spPr>
          <a:xfrm>
            <a:off x="4000500" y="1390650"/>
            <a:ext cx="2381250" cy="2095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看板、上传、审批、AI 对话</a:t>
            </a:r>
            <a:endParaRPr lang="en-US" sz="1000" b="0" i="0" u="none" strike="noStrike">
              <a:solidFill>
                <a:srgbClr val="FFFFFF">
                  <a:alpha val="8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AutoShape 9"/>
          <p:cNvSpPr/>
          <p:nvPr/>
        </p:nvSpPr>
        <p:spPr>
          <a:xfrm>
            <a:off x="4476750" y="1752600"/>
            <a:ext cx="190500" cy="1333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C6A9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000" b="0" i="0" u="none" strike="noStrike">
              <a:solidFill>
                <a:srgbClr val="46C6A9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0"/>
          <p:cNvSpPr/>
          <p:nvPr/>
        </p:nvSpPr>
        <p:spPr>
          <a:xfrm>
            <a:off x="2667000" y="1905000"/>
            <a:ext cx="3810000" cy="381000"/>
          </a:xfrm>
          <a:prstGeom prst="roundRect">
            <a:avLst>
              <a:gd name="adj" fmla="val 20000"/>
            </a:avLst>
          </a:prstGeom>
          <a:solidFill>
            <a:srgbClr val="46C6A9">
              <a:alpha val="12000"/>
            </a:srgbClr>
          </a:solidFill>
          <a:ln w="12700" cap="flat" cmpd="sng">
            <a:solidFill>
              <a:srgbClr val="46C6A9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000"/>
          </a:p>
        </p:txBody>
      </p:sp>
      <p:sp>
        <p:nvSpPr>
          <p:cNvPr id="25" name="AutoShape 11"/>
          <p:cNvSpPr/>
          <p:nvPr/>
        </p:nvSpPr>
        <p:spPr>
          <a:xfrm>
            <a:off x="2762250" y="1905000"/>
            <a:ext cx="11430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API 层 FastAPI</a:t>
            </a:r>
            <a:endParaRPr lang="en-US" sz="1000" b="1" i="0" u="none" strike="noStrike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7" name="AutoShape 12"/>
          <p:cNvSpPr/>
          <p:nvPr/>
        </p:nvSpPr>
        <p:spPr>
          <a:xfrm>
            <a:off x="4000500" y="1933575"/>
            <a:ext cx="2381250" cy="19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接口即契约（OpenAPI 文档）</a:t>
            </a:r>
            <a:endParaRPr lang="en-US" sz="1000" b="0" i="0" u="none" strike="noStrike">
              <a:solidFill>
                <a:srgbClr val="FFFFFF">
                  <a:alpha val="8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8" name="AutoShape 13"/>
          <p:cNvSpPr/>
          <p:nvPr/>
        </p:nvSpPr>
        <p:spPr>
          <a:xfrm rot="19020000">
            <a:off x="4540885" y="2294890"/>
            <a:ext cx="190500" cy="1333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C6A9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↙</a:t>
            </a:r>
            <a:endParaRPr lang="en-US" sz="1000" b="0" i="0" u="none" strike="noStrike">
              <a:solidFill>
                <a:srgbClr val="46C6A9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14"/>
          <p:cNvSpPr/>
          <p:nvPr/>
        </p:nvSpPr>
        <p:spPr>
          <a:xfrm>
            <a:off x="6610985" y="2223770"/>
            <a:ext cx="190500" cy="1333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C6A9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↘</a:t>
            </a:r>
            <a:endParaRPr lang="en-US" sz="1000" b="0" i="0" u="none" strike="noStrike">
              <a:solidFill>
                <a:srgbClr val="46C6A9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15"/>
          <p:cNvSpPr/>
          <p:nvPr/>
        </p:nvSpPr>
        <p:spPr>
          <a:xfrm>
            <a:off x="2761615" y="2466340"/>
            <a:ext cx="3429000" cy="952500"/>
          </a:xfrm>
          <a:prstGeom prst="roundRect">
            <a:avLst>
              <a:gd name="adj" fmla="val 10666"/>
            </a:avLst>
          </a:prstGeom>
          <a:solidFill>
            <a:srgbClr val="DC5050">
              <a:alpha val="10000"/>
            </a:srgbClr>
          </a:solidFill>
          <a:ln w="12700" cap="flat" cmpd="sng">
            <a:solidFill>
              <a:srgbClr val="DC50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000"/>
          </a:p>
        </p:txBody>
      </p:sp>
      <p:sp>
        <p:nvSpPr>
          <p:cNvPr id="32" name="AutoShape 16"/>
          <p:cNvSpPr/>
          <p:nvPr/>
        </p:nvSpPr>
        <p:spPr>
          <a:xfrm>
            <a:off x="2865120" y="2561590"/>
            <a:ext cx="314325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96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税务引擎（红线隔离）</a:t>
            </a:r>
            <a:endParaRPr lang="en-US" sz="1000" b="1" i="0" u="none" strike="noStrike">
              <a:solidFill>
                <a:srgbClr val="FF96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" name="AutoShape 17"/>
          <p:cNvSpPr/>
          <p:nvPr/>
        </p:nvSpPr>
        <p:spPr>
          <a:xfrm>
            <a:off x="2824480" y="2818765"/>
            <a:ext cx="3143250" cy="495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· 三项测试纯确定性逻辑</a:t>
            </a:r>
            <a:endParaRPr lang="en-US" sz="10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· AI 不可修改规则</a:t>
            </a:r>
            <a:endParaRPr lang="en-US" sz="1000" b="0" i="0" u="none" strike="noStrike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· 独立模块，边界值测试覆盖</a:t>
            </a:r>
            <a:endParaRPr lang="en-US" sz="1000" b="0" i="0" u="none" strike="noStrike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5" name="AutoShape 18"/>
          <p:cNvSpPr/>
          <p:nvPr/>
        </p:nvSpPr>
        <p:spPr>
          <a:xfrm>
            <a:off x="6610985" y="2409825"/>
            <a:ext cx="2372995" cy="952500"/>
          </a:xfrm>
          <a:prstGeom prst="roundRect">
            <a:avLst>
              <a:gd name="adj" fmla="val 10666"/>
            </a:avLst>
          </a:prstGeom>
          <a:solidFill>
            <a:srgbClr val="46C6A9">
              <a:alpha val="10000"/>
            </a:srgbClr>
          </a:solidFill>
          <a:ln w="12700" cap="flat" cmpd="sng">
            <a:solidFill>
              <a:srgbClr val="46C6A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000"/>
          </a:p>
        </p:txBody>
      </p:sp>
      <p:sp>
        <p:nvSpPr>
          <p:cNvPr id="36" name="AutoShape 19"/>
          <p:cNvSpPr/>
          <p:nvPr/>
        </p:nvSpPr>
        <p:spPr>
          <a:xfrm>
            <a:off x="6727825" y="2475230"/>
            <a:ext cx="163322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AI 增强层</a:t>
            </a:r>
            <a:endParaRPr lang="en-US" sz="1000" b="1" i="0" u="none" strike="noStrike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" name="AutoShape 20"/>
          <p:cNvSpPr/>
          <p:nvPr/>
        </p:nvSpPr>
        <p:spPr>
          <a:xfrm>
            <a:off x="6614160" y="2757805"/>
            <a:ext cx="2291715" cy="495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· 字段映射/异常检测/补全/简报/Copilot</a:t>
            </a:r>
            <a:endParaRPr lang="en-US" sz="10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· 只给建议，5s 超时自动降级</a:t>
            </a:r>
            <a:endParaRPr lang="en-US" sz="1000" b="0" i="0" u="none" strike="noStrike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· </a:t>
            </a:r>
            <a:endParaRPr lang="en-US" sz="1000" b="0" i="0" u="none" strike="noStrike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8" name="AutoShape 21"/>
          <p:cNvSpPr/>
          <p:nvPr/>
        </p:nvSpPr>
        <p:spPr>
          <a:xfrm rot="2880000">
            <a:off x="4540885" y="3437890"/>
            <a:ext cx="190500" cy="1333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C6A9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↘</a:t>
            </a:r>
            <a:endParaRPr lang="en-US" sz="1000" b="0" i="0" u="none" strike="noStrike">
              <a:solidFill>
                <a:srgbClr val="46C6A9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22"/>
          <p:cNvSpPr/>
          <p:nvPr/>
        </p:nvSpPr>
        <p:spPr>
          <a:xfrm rot="2880000">
            <a:off x="6402070" y="2880360"/>
            <a:ext cx="190500" cy="1333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C6A9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↙</a:t>
            </a:r>
            <a:endParaRPr lang="en-US" sz="1000" b="0" i="0" u="none" strike="noStrike">
              <a:solidFill>
                <a:srgbClr val="46C6A9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1" name="AutoShape 23"/>
          <p:cNvSpPr/>
          <p:nvPr/>
        </p:nvSpPr>
        <p:spPr>
          <a:xfrm>
            <a:off x="2667000" y="3524250"/>
            <a:ext cx="3810000" cy="419100"/>
          </a:xfrm>
          <a:prstGeom prst="roundRect">
            <a:avLst>
              <a:gd name="adj" fmla="val 18181"/>
            </a:avLst>
          </a:prstGeom>
          <a:solidFill>
            <a:srgbClr val="46C6A9">
              <a:alpha val="12000"/>
            </a:srgbClr>
          </a:solidFill>
          <a:ln w="12700" cap="flat" cmpd="sng">
            <a:solidFill>
              <a:srgbClr val="46C6A9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000"/>
          </a:p>
        </p:txBody>
      </p:sp>
      <p:sp>
        <p:nvSpPr>
          <p:cNvPr id="42" name="AutoShape 24"/>
          <p:cNvSpPr/>
          <p:nvPr/>
        </p:nvSpPr>
        <p:spPr>
          <a:xfrm>
            <a:off x="2762250" y="3581400"/>
            <a:ext cx="1524000" cy="30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PostgreSQL 数据库</a:t>
            </a:r>
            <a:endParaRPr lang="en-US" sz="1000" b="1" i="0" u="none" strike="noStrike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4" name="AutoShape 25"/>
          <p:cNvSpPr/>
          <p:nvPr/>
        </p:nvSpPr>
        <p:spPr>
          <a:xfrm>
            <a:off x="4381500" y="3619500"/>
            <a:ext cx="200025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含「人工确认门」字段</a:t>
            </a:r>
            <a:endParaRPr lang="en-US" sz="1000" b="0" i="0" u="none" strike="noStrike">
              <a:solidFill>
                <a:srgbClr val="FFFFFF">
                  <a:alpha val="8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" name="AutoShape 26"/>
          <p:cNvSpPr/>
          <p:nvPr/>
        </p:nvSpPr>
        <p:spPr>
          <a:xfrm>
            <a:off x="571500" y="4114800"/>
            <a:ext cx="8001000" cy="552450"/>
          </a:xfrm>
          <a:prstGeom prst="roundRect">
            <a:avLst>
              <a:gd name="adj" fmla="val 18390"/>
            </a:avLst>
          </a:prstGeom>
          <a:gradFill rotWithShape="1">
            <a:gsLst>
              <a:gs pos="0">
                <a:srgbClr val="46C6A9">
                  <a:alpha val="18000"/>
                </a:srgbClr>
              </a:gs>
              <a:gs pos="100000">
                <a:srgbClr val="46C6A9">
                  <a:alpha val="5000"/>
                </a:srgbClr>
              </a:gs>
            </a:gsLst>
            <a:lin ang="0"/>
          </a:gradFill>
          <a:ln w="12700" cap="flat" cmpd="sng">
            <a:solidFill>
              <a:srgbClr val="46C6A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46" name="AutoShape 27"/>
          <p:cNvSpPr/>
          <p:nvPr/>
        </p:nvSpPr>
        <p:spPr>
          <a:xfrm>
            <a:off x="762000" y="4191000"/>
            <a:ext cx="7620000" cy="2095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最关键设计：税务计算与 AI 物理隔离</a:t>
            </a:r>
            <a:endParaRPr lang="en-US" sz="1000" b="1" i="0" u="none" strike="noStrike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7" name="AutoShape 28"/>
          <p:cNvSpPr/>
          <p:nvPr/>
        </p:nvSpPr>
        <p:spPr>
          <a:xfrm>
            <a:off x="762000" y="4419600"/>
            <a:ext cx="7620000" cy="19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三项测试是独立确定性模块，AI 只能读结果不能改规则；数据库设「人工确认门」；AI 不可用时自动降级，测试照常运行</a:t>
            </a:r>
            <a:endParaRPr lang="en-US" sz="1000" b="0" i="0" u="none" strike="noStrike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9" name="AutoShape 4"/>
          <p:cNvSpPr/>
          <p:nvPr/>
        </p:nvSpPr>
        <p:spPr>
          <a:xfrm>
            <a:off x="5344795" y="701675"/>
            <a:ext cx="1456690" cy="355600"/>
          </a:xfrm>
          <a:prstGeom prst="roundRect">
            <a:avLst>
              <a:gd name="adj" fmla="val 21428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4902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复核人</a:t>
            </a:r>
            <a:endParaRPr lang="en-US" sz="1000" b="0" i="0" u="none" strike="noStrike">
              <a:solidFill>
                <a:srgbClr val="FFFFFF">
                  <a:alpha val="94902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0" name="AutoShape 4"/>
          <p:cNvSpPr/>
          <p:nvPr/>
        </p:nvSpPr>
        <p:spPr>
          <a:xfrm>
            <a:off x="2343150" y="739775"/>
            <a:ext cx="1467485" cy="355600"/>
          </a:xfrm>
          <a:prstGeom prst="roundRect">
            <a:avLst>
              <a:gd name="adj" fmla="val 21428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4902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子公司 </a:t>
            </a:r>
            <a:endParaRPr lang="en-US" sz="1000" b="0" i="0" u="none" strike="noStrike">
              <a:solidFill>
                <a:srgbClr val="FFFFFF">
                  <a:alpha val="94902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65505" y="30480"/>
            <a:ext cx="3954780" cy="8521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400" b="1" dirty="0">
                <a:solidFill>
                  <a:schemeClr val="bg1"/>
                </a:solidFill>
                <a:latin typeface="+mn-lt"/>
                <a:ea typeface="+mn-ea"/>
              </a:rPr>
              <a:t>MORE THAN TEMPLATE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5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三方角色各司其职 · 总部看板一眼看清风险</a:t>
            </a:r>
            <a:endParaRPr kumimoji="1" lang="zh-CN" altLang="en-US" sz="15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15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9888" y="219075"/>
            <a:ext cx="495300" cy="474663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800" b="1" dirty="0">
                <a:solidFill>
                  <a:srgbClr val="FFFFFF"/>
                </a:solidFill>
              </a:rPr>
              <a:t>LOGO</a:t>
            </a:r>
            <a:endParaRPr kumimoji="1" lang="zh-CN" altLang="en-US" sz="800" b="1" dirty="0">
              <a:solidFill>
                <a:srgbClr val="FFFFFF"/>
              </a:solidFill>
            </a:endParaRPr>
          </a:p>
        </p:txBody>
      </p:sp>
      <p:sp>
        <p:nvSpPr>
          <p:cNvPr id="16387" name="文本框 10"/>
          <p:cNvSpPr txBox="1">
            <a:spLocks noChangeArrowheads="1"/>
          </p:cNvSpPr>
          <p:nvPr/>
        </p:nvSpPr>
        <p:spPr bwMode="auto">
          <a:xfrm>
            <a:off x="3589338" y="4737100"/>
            <a:ext cx="1965325" cy="220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kumimoji="1"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LOGO</a:t>
            </a:r>
            <a:r>
              <a:rPr kumimoji="1"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 </a:t>
            </a:r>
            <a:r>
              <a:rPr kumimoji="1"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|</a:t>
            </a:r>
            <a:r>
              <a:rPr kumimoji="1"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 </a:t>
            </a:r>
            <a:r>
              <a:rPr kumimoji="1"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COMPANY</a:t>
            </a:r>
            <a:endParaRPr kumimoji="1" lang="zh-CN" altLang="en-US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8" name="AutoShape 4"/>
          <p:cNvSpPr/>
          <p:nvPr/>
        </p:nvSpPr>
        <p:spPr>
          <a:xfrm>
            <a:off x="571500" y="809625"/>
            <a:ext cx="1905000" cy="2095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8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三方角色</a:t>
            </a:r>
            <a:endParaRPr lang="en-US" sz="98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571500" y="1066800"/>
            <a:ext cx="2571750" cy="857250"/>
          </a:xfrm>
          <a:prstGeom prst="roundRect">
            <a:avLst>
              <a:gd name="adj" fmla="val 11851"/>
            </a:avLst>
          </a:prstGeom>
          <a:solidFill>
            <a:srgbClr val="46C6A9">
              <a:alpha val="10000"/>
            </a:srgbClr>
          </a:solidFill>
          <a:ln w="12700" cap="flat" cmpd="sng">
            <a:solidFill>
              <a:srgbClr val="46C6A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AutoShape 6"/>
          <p:cNvSpPr/>
          <p:nvPr/>
        </p:nvSpPr>
        <p:spPr>
          <a:xfrm>
            <a:off x="714375" y="1162050"/>
            <a:ext cx="22860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2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子公司</a:t>
            </a:r>
            <a:endParaRPr lang="en-US" sz="112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AutoShape 7"/>
          <p:cNvSpPr/>
          <p:nvPr/>
        </p:nvSpPr>
        <p:spPr>
          <a:xfrm>
            <a:off x="714375" y="1409700"/>
            <a:ext cx="22860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0" i="0" u="none" strike="noStrike" kern="0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上传本地财务 Excel、确认字段映射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fontAlgn="auto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0" i="0" u="none" strike="noStrike" kern="0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AI 辅助识别各国不同表头</a:t>
            </a:r>
            <a:endParaRPr lang="en-US" sz="750" b="0" i="0" u="none" strike="noStrike" kern="0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AutoShape 8"/>
          <p:cNvSpPr/>
          <p:nvPr/>
        </p:nvSpPr>
        <p:spPr>
          <a:xfrm>
            <a:off x="3286125" y="1066800"/>
            <a:ext cx="2571750" cy="857250"/>
          </a:xfrm>
          <a:prstGeom prst="roundRect">
            <a:avLst>
              <a:gd name="adj" fmla="val 11851"/>
            </a:avLst>
          </a:prstGeom>
          <a:solidFill>
            <a:srgbClr val="46C6A9">
              <a:alpha val="10000"/>
            </a:srgbClr>
          </a:solidFill>
          <a:ln w="12700" cap="flat" cmpd="sng">
            <a:solidFill>
              <a:srgbClr val="46C6A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AutoShape 9"/>
          <p:cNvSpPr/>
          <p:nvPr/>
        </p:nvSpPr>
        <p:spPr>
          <a:xfrm>
            <a:off x="3429000" y="1162050"/>
            <a:ext cx="22860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2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集团总部</a:t>
            </a:r>
            <a:endParaRPr lang="en-US" sz="112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AutoShape 10"/>
          <p:cNvSpPr/>
          <p:nvPr/>
        </p:nvSpPr>
        <p:spPr>
          <a:xfrm>
            <a:off x="3429000" y="1409700"/>
            <a:ext cx="22860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0" i="0" u="none" strike="noStrike" kern="0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看全局、做决策、一键下钻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fontAlgn="auto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0" i="0" u="none" strike="noStrike" kern="0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全局风险一目了然</a:t>
            </a:r>
            <a:endParaRPr lang="en-US" sz="750" b="0" i="0" u="none" strike="noStrike" kern="0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AutoShape 11"/>
          <p:cNvSpPr/>
          <p:nvPr/>
        </p:nvSpPr>
        <p:spPr>
          <a:xfrm>
            <a:off x="6000750" y="1066800"/>
            <a:ext cx="2571750" cy="857250"/>
          </a:xfrm>
          <a:prstGeom prst="roundRect">
            <a:avLst>
              <a:gd name="adj" fmla="val 11851"/>
            </a:avLst>
          </a:prstGeom>
          <a:solidFill>
            <a:srgbClr val="46C6A9">
              <a:alpha val="10000"/>
            </a:srgbClr>
          </a:solidFill>
          <a:ln w="12700" cap="flat" cmpd="sng">
            <a:solidFill>
              <a:srgbClr val="46C6A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AutoShape 12"/>
          <p:cNvSpPr/>
          <p:nvPr/>
        </p:nvSpPr>
        <p:spPr>
          <a:xfrm>
            <a:off x="6143625" y="1162050"/>
            <a:ext cx="22860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2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复核人</a:t>
            </a:r>
            <a:endParaRPr lang="en-US" sz="112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" name="AutoShape 13"/>
          <p:cNvSpPr/>
          <p:nvPr/>
        </p:nvSpPr>
        <p:spPr>
          <a:xfrm>
            <a:off x="6143625" y="1409700"/>
            <a:ext cx="22860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0" i="0" u="none" strike="noStrike" kern="0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审批把关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fontAlgn="auto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0" i="0" u="none" strike="noStrike" kern="0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防止数据带病入库</a:t>
            </a:r>
            <a:endParaRPr lang="en-US" sz="750" b="0" i="0" u="none" strike="noStrike" kern="0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" name="AutoShape 14"/>
          <p:cNvSpPr/>
          <p:nvPr/>
        </p:nvSpPr>
        <p:spPr>
          <a:xfrm>
            <a:off x="571500" y="2095500"/>
            <a:ext cx="2857500" cy="2095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8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总部看板核心功能</a:t>
            </a:r>
            <a:endParaRPr lang="en-US" sz="98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7" name="AutoShape 15"/>
          <p:cNvSpPr/>
          <p:nvPr/>
        </p:nvSpPr>
        <p:spPr>
          <a:xfrm>
            <a:off x="571500" y="2362200"/>
            <a:ext cx="1857375" cy="571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" name="AutoShape 16"/>
          <p:cNvSpPr/>
          <p:nvPr/>
        </p:nvSpPr>
        <p:spPr>
          <a:xfrm>
            <a:off x="666750" y="2428875"/>
            <a:ext cx="1666875" cy="19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0" i="0" u="none" strike="noStrike" kern="0">
                <a:solidFill>
                  <a:srgbClr val="FFFFFF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KPI 卡片</a:t>
            </a:r>
            <a:endParaRPr lang="en-US" sz="750" b="0" i="0" u="none" strike="noStrike" kern="0">
              <a:solidFill>
                <a:srgbClr val="FFFFFF">
                  <a:alpha val="6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" name="AutoShape 17"/>
          <p:cNvSpPr/>
          <p:nvPr/>
        </p:nvSpPr>
        <p:spPr>
          <a:xfrm>
            <a:off x="666750" y="2619375"/>
            <a:ext cx="1666875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0" i="0" u="none" strike="noStrike" kern="0">
                <a:solidFill>
                  <a:srgbClr val="FFFFFF">
                    <a:alpha val="9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辖区总数 / PASS / FAIL / 数据不完整</a:t>
            </a:r>
            <a:endParaRPr lang="en-US" sz="750" b="0" i="0" u="none" strike="noStrike" kern="0">
              <a:solidFill>
                <a:srgbClr val="FFFFFF">
                  <a:alpha val="90196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" name="AutoShape 18"/>
          <p:cNvSpPr/>
          <p:nvPr/>
        </p:nvSpPr>
        <p:spPr>
          <a:xfrm>
            <a:off x="2524125" y="2362200"/>
            <a:ext cx="1857375" cy="571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" name="AutoShape 19"/>
          <p:cNvSpPr/>
          <p:nvPr/>
        </p:nvSpPr>
        <p:spPr>
          <a:xfrm>
            <a:off x="2619375" y="2428875"/>
            <a:ext cx="1666875" cy="19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0" i="0" u="none" strike="noStrike" kern="0">
                <a:solidFill>
                  <a:srgbClr val="FFFFFF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辖区明细表</a:t>
            </a:r>
            <a:endParaRPr lang="en-US" sz="750" b="0" i="0" u="none" strike="noStrike" kern="0">
              <a:solidFill>
                <a:srgbClr val="FFFFFF">
                  <a:alpha val="6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2" name="AutoShape 20"/>
          <p:cNvSpPr/>
          <p:nvPr/>
        </p:nvSpPr>
        <p:spPr>
          <a:xfrm>
            <a:off x="2619375" y="2619375"/>
            <a:ext cx="1666875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0" i="0" u="none" strike="noStrike" kern="0">
                <a:solidFill>
                  <a:srgbClr val="FFFFFF">
                    <a:alpha val="9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Revenue、PBT、ETR、SBIE、三项结果</a:t>
            </a:r>
            <a:endParaRPr lang="en-US" sz="750" b="0" i="0" u="none" strike="noStrike" kern="0">
              <a:solidFill>
                <a:srgbClr val="FFFFFF">
                  <a:alpha val="90196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" name="AutoShape 21"/>
          <p:cNvSpPr/>
          <p:nvPr/>
        </p:nvSpPr>
        <p:spPr>
          <a:xfrm>
            <a:off x="4476750" y="2362200"/>
            <a:ext cx="1857375" cy="571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" name="AutoShape 22"/>
          <p:cNvSpPr/>
          <p:nvPr/>
        </p:nvSpPr>
        <p:spPr>
          <a:xfrm>
            <a:off x="4572000" y="2428875"/>
            <a:ext cx="1666875" cy="19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0" i="0" u="none" strike="noStrike" kern="0">
                <a:solidFill>
                  <a:srgbClr val="FFFFFF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点击下钻</a:t>
            </a:r>
            <a:endParaRPr lang="en-US" sz="750" b="0" i="0" u="none" strike="noStrike" kern="0">
              <a:solidFill>
                <a:srgbClr val="FFFFFF">
                  <a:alpha val="6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5" name="AutoShape 23"/>
          <p:cNvSpPr/>
          <p:nvPr/>
        </p:nvSpPr>
        <p:spPr>
          <a:xfrm>
            <a:off x="4572000" y="2619375"/>
            <a:ext cx="1666875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0" i="0" u="none" strike="noStrike" kern="0">
                <a:solidFill>
                  <a:srgbClr val="FFFFFF">
                    <a:alpha val="9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自然语言解释为什么 PASS/FAIL</a:t>
            </a:r>
            <a:endParaRPr lang="en-US" sz="750" b="0" i="0" u="none" strike="noStrike" kern="0">
              <a:solidFill>
                <a:srgbClr val="FFFFFF">
                  <a:alpha val="90196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6" name="AutoShape 24"/>
          <p:cNvSpPr/>
          <p:nvPr/>
        </p:nvSpPr>
        <p:spPr>
          <a:xfrm>
            <a:off x="6429375" y="2362200"/>
            <a:ext cx="2143125" cy="571500"/>
          </a:xfrm>
          <a:prstGeom prst="roundRect">
            <a:avLst>
              <a:gd name="adj" fmla="val 13333"/>
            </a:avLst>
          </a:prstGeom>
          <a:solidFill>
            <a:srgbClr val="46C6A9">
              <a:alpha val="10000"/>
            </a:srgbClr>
          </a:solidFill>
          <a:ln w="12700" cap="flat" cmpd="sng">
            <a:solidFill>
              <a:srgbClr val="46C6A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AutoShape 25"/>
          <p:cNvSpPr/>
          <p:nvPr/>
        </p:nvSpPr>
        <p:spPr>
          <a:xfrm>
            <a:off x="6524625" y="2428875"/>
            <a:ext cx="1952625" cy="19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示例：日本</a:t>
            </a:r>
            <a:endParaRPr lang="en-US" sz="75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8" name="AutoShape 26"/>
          <p:cNvSpPr/>
          <p:nvPr/>
        </p:nvSpPr>
        <p:spPr>
          <a:xfrm>
            <a:off x="6524625" y="2619375"/>
            <a:ext cx="1952625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80" b="0" i="0" u="none" strike="noStrike" kern="0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De minimis FAIL，ETR PASS(18%&gt;16%) → 最终 PASS</a:t>
            </a:r>
            <a:endParaRPr lang="en-US" sz="680" b="0" i="0" u="none" strike="noStrike" kern="0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AutoShape 27"/>
          <p:cNvSpPr/>
          <p:nvPr/>
        </p:nvSpPr>
        <p:spPr>
          <a:xfrm>
            <a:off x="571500" y="3143250"/>
            <a:ext cx="1905000" cy="2095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8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业务价值</a:t>
            </a:r>
            <a:endParaRPr lang="en-US" sz="98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0" name="AutoShape 28"/>
          <p:cNvSpPr/>
          <p:nvPr/>
        </p:nvSpPr>
        <p:spPr>
          <a:xfrm>
            <a:off x="571500" y="3409950"/>
            <a:ext cx="2571750" cy="666750"/>
          </a:xfrm>
          <a:prstGeom prst="roundRect">
            <a:avLst>
              <a:gd name="adj" fmla="val 15238"/>
            </a:avLst>
          </a:prstGeom>
          <a:gradFill rotWithShape="1">
            <a:gsLst>
              <a:gs pos="0">
                <a:srgbClr val="46C6A9">
                  <a:alpha val="15000"/>
                </a:srgbClr>
              </a:gs>
              <a:gs pos="100000">
                <a:srgbClr val="46C6A9">
                  <a:alpha val="5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" name="AutoShape 29"/>
          <p:cNvSpPr/>
          <p:nvPr/>
        </p:nvSpPr>
        <p:spPr>
          <a:xfrm>
            <a:off x="714375" y="3505200"/>
            <a:ext cx="22860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效率提升</a:t>
            </a:r>
            <a:endParaRPr lang="en-US" sz="105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AutoShape 30"/>
          <p:cNvSpPr/>
          <p:nvPr/>
        </p:nvSpPr>
        <p:spPr>
          <a:xfrm>
            <a:off x="714375" y="3752850"/>
            <a:ext cx="22860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20" b="0" i="0" u="none" strike="noStrike" kern="0">
                <a:solidFill>
                  <a:srgbClr val="FFFFFF">
                    <a:alpha val="9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人工数周 → 分钟级全辖区筛查</a:t>
            </a:r>
            <a:endParaRPr lang="en-US" sz="820" b="0" i="0" u="none" strike="noStrike" kern="0">
              <a:solidFill>
                <a:srgbClr val="FFFFFF">
                  <a:alpha val="90196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AutoShape 31"/>
          <p:cNvSpPr/>
          <p:nvPr/>
        </p:nvSpPr>
        <p:spPr>
          <a:xfrm>
            <a:off x="3286125" y="3409950"/>
            <a:ext cx="2571750" cy="666750"/>
          </a:xfrm>
          <a:prstGeom prst="roundRect">
            <a:avLst>
              <a:gd name="adj" fmla="val 15238"/>
            </a:avLst>
          </a:prstGeom>
          <a:gradFill rotWithShape="1">
            <a:gsLst>
              <a:gs pos="0">
                <a:srgbClr val="46C6A9">
                  <a:alpha val="15000"/>
                </a:srgbClr>
              </a:gs>
              <a:gs pos="100000">
                <a:srgbClr val="46C6A9">
                  <a:alpha val="5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AutoShape 32"/>
          <p:cNvSpPr/>
          <p:nvPr/>
        </p:nvSpPr>
        <p:spPr>
          <a:xfrm>
            <a:off x="3429000" y="3505200"/>
            <a:ext cx="22860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准确性</a:t>
            </a:r>
            <a:endParaRPr lang="en-US" sz="105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" name="AutoShape 33"/>
          <p:cNvSpPr/>
          <p:nvPr/>
        </p:nvSpPr>
        <p:spPr>
          <a:xfrm>
            <a:off x="3429000" y="3752850"/>
            <a:ext cx="22860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20" b="0" i="0" u="none" strike="noStrike" kern="0">
                <a:solidFill>
                  <a:srgbClr val="FFFFFF">
                    <a:alpha val="9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统一口径规则引擎，杜绝手工偏差</a:t>
            </a:r>
            <a:endParaRPr lang="en-US" sz="820" b="0" i="0" u="none" strike="noStrike" kern="0">
              <a:solidFill>
                <a:srgbClr val="FFFFFF">
                  <a:alpha val="90196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AutoShape 34"/>
          <p:cNvSpPr/>
          <p:nvPr/>
        </p:nvSpPr>
        <p:spPr>
          <a:xfrm>
            <a:off x="6000750" y="3409950"/>
            <a:ext cx="2571750" cy="666750"/>
          </a:xfrm>
          <a:prstGeom prst="roundRect">
            <a:avLst>
              <a:gd name="adj" fmla="val 15238"/>
            </a:avLst>
          </a:prstGeom>
          <a:gradFill rotWithShape="1">
            <a:gsLst>
              <a:gs pos="0">
                <a:srgbClr val="46C6A9">
                  <a:alpha val="15000"/>
                </a:srgbClr>
              </a:gs>
              <a:gs pos="100000">
                <a:srgbClr val="46C6A9">
                  <a:alpha val="5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7" name="AutoShape 35"/>
          <p:cNvSpPr/>
          <p:nvPr/>
        </p:nvSpPr>
        <p:spPr>
          <a:xfrm>
            <a:off x="6143625" y="3505200"/>
            <a:ext cx="22860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前瞻性</a:t>
            </a:r>
            <a:endParaRPr lang="en-US" sz="105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8" name="AutoShape 36"/>
          <p:cNvSpPr/>
          <p:nvPr/>
        </p:nvSpPr>
        <p:spPr>
          <a:xfrm>
            <a:off x="6143625" y="3752850"/>
            <a:ext cx="22860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20" b="0" i="0" u="none" strike="noStrike" kern="0">
                <a:solidFill>
                  <a:srgbClr val="FFFFFF">
                    <a:alpha val="9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风险前置预警，时间留给高风险辖区</a:t>
            </a:r>
            <a:endParaRPr lang="en-US" sz="820" b="0" i="0" u="none" strike="noStrike" kern="0">
              <a:solidFill>
                <a:srgbClr val="FFFFFF">
                  <a:alpha val="90196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865505" y="174308"/>
            <a:ext cx="4242435" cy="5645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400" b="1" dirty="0">
                <a:solidFill>
                  <a:srgbClr val="222732"/>
                </a:solidFill>
                <a:latin typeface="+mn-lt"/>
                <a:ea typeface="+mn-ea"/>
              </a:rPr>
              <a:t>MORE THAN TEMPLATE</a:t>
            </a:r>
            <a:endParaRPr kumimoji="1" lang="en-US" altLang="zh-CN" sz="1400" b="1" dirty="0">
              <a:solidFill>
                <a:srgbClr val="22273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400" b="1" dirty="0">
                <a:solidFill>
                  <a:srgbClr val="222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</a:t>
            </a:r>
            <a:r>
              <a:rPr kumimoji="1" lang="zh-CN" altLang="en-US" sz="1400" b="1" dirty="0">
                <a:solidFill>
                  <a:srgbClr val="222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增强：让 </a:t>
            </a:r>
            <a:r>
              <a:rPr kumimoji="1" lang="en-US" altLang="zh-CN" sz="1400" b="1" dirty="0">
                <a:solidFill>
                  <a:srgbClr val="222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</a:t>
            </a:r>
            <a:r>
              <a:rPr kumimoji="1" lang="zh-CN" altLang="en-US" sz="1400" b="1" dirty="0">
                <a:solidFill>
                  <a:srgbClr val="222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做繁琐的事，让人做判断的事</a:t>
            </a:r>
            <a:endParaRPr kumimoji="1" lang="zh-CN" altLang="en-US" sz="1400" b="1" dirty="0">
              <a:solidFill>
                <a:srgbClr val="22273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69888" y="219075"/>
            <a:ext cx="495300" cy="474663"/>
          </a:xfrm>
          <a:prstGeom prst="rect">
            <a:avLst/>
          </a:prstGeom>
          <a:noFill/>
          <a:ln>
            <a:solidFill>
              <a:srgbClr val="2227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800" b="1" dirty="0">
                <a:solidFill>
                  <a:srgbClr val="222732"/>
                </a:solidFill>
              </a:rPr>
              <a:t>LOGO</a:t>
            </a:r>
            <a:endParaRPr kumimoji="1" lang="zh-CN" altLang="en-US" sz="800" b="1" dirty="0">
              <a:solidFill>
                <a:srgbClr val="222732"/>
              </a:solidFill>
            </a:endParaRPr>
          </a:p>
        </p:txBody>
      </p:sp>
      <p:sp>
        <p:nvSpPr>
          <p:cNvPr id="23560" name="文本框 17"/>
          <p:cNvSpPr txBox="1">
            <a:spLocks noChangeArrowheads="1"/>
          </p:cNvSpPr>
          <p:nvPr/>
        </p:nvSpPr>
        <p:spPr bwMode="auto">
          <a:xfrm>
            <a:off x="3589338" y="4737100"/>
            <a:ext cx="1965325" cy="220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kumimoji="1" lang="en-US" altLang="zh-CN" sz="1000">
                <a:solidFill>
                  <a:srgbClr val="222732"/>
                </a:solidFill>
                <a:latin typeface="Century Gothic" panose="020B0502020202020204"/>
                <a:ea typeface="微软雅黑" panose="020B0503020204020204" pitchFamily="34" charset="-122"/>
              </a:rPr>
              <a:t>LOGO</a:t>
            </a:r>
            <a:r>
              <a:rPr kumimoji="1" lang="zh-CN" altLang="en-US" sz="1000">
                <a:solidFill>
                  <a:srgbClr val="222732"/>
                </a:solidFill>
                <a:latin typeface="Century Gothic" panose="020B0502020202020204"/>
                <a:ea typeface="微软雅黑" panose="020B0503020204020204" pitchFamily="34" charset="-122"/>
              </a:rPr>
              <a:t> </a:t>
            </a:r>
            <a:r>
              <a:rPr kumimoji="1" lang="en-US" altLang="zh-CN" sz="1000">
                <a:solidFill>
                  <a:srgbClr val="222732"/>
                </a:solidFill>
                <a:latin typeface="Century Gothic" panose="020B0502020202020204"/>
                <a:ea typeface="微软雅黑" panose="020B0503020204020204" pitchFamily="34" charset="-122"/>
              </a:rPr>
              <a:t>|</a:t>
            </a:r>
            <a:r>
              <a:rPr kumimoji="1" lang="zh-CN" altLang="en-US" sz="1000">
                <a:solidFill>
                  <a:srgbClr val="222732"/>
                </a:solidFill>
                <a:latin typeface="Century Gothic" panose="020B0502020202020204"/>
                <a:ea typeface="微软雅黑" panose="020B0503020204020204" pitchFamily="34" charset="-122"/>
              </a:rPr>
              <a:t> </a:t>
            </a:r>
            <a:r>
              <a:rPr kumimoji="1" lang="en-US" altLang="zh-CN" sz="1000">
                <a:solidFill>
                  <a:srgbClr val="222732"/>
                </a:solidFill>
                <a:latin typeface="Century Gothic" panose="020B0502020202020204"/>
                <a:ea typeface="微软雅黑" panose="020B0503020204020204" pitchFamily="34" charset="-122"/>
              </a:rPr>
              <a:t>COMPANY</a:t>
            </a:r>
            <a:endParaRPr kumimoji="1" lang="zh-CN" altLang="en-US" sz="1000">
              <a:solidFill>
                <a:srgbClr val="222732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6" name="Connector 3"/>
          <p:cNvCxnSpPr/>
          <p:nvPr/>
        </p:nvCxnSpPr>
        <p:spPr>
          <a:xfrm rot="-5456">
            <a:off x="612145" y="841375"/>
            <a:ext cx="800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6C6A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4"/>
          <p:cNvSpPr/>
          <p:nvPr/>
        </p:nvSpPr>
        <p:spPr>
          <a:xfrm>
            <a:off x="612140" y="1000125"/>
            <a:ext cx="8001000" cy="381000"/>
          </a:xfrm>
          <a:prstGeom prst="roundRect">
            <a:avLst>
              <a:gd name="adj" fmla="val 26666"/>
            </a:avLst>
          </a:prstGeom>
          <a:solidFill>
            <a:srgbClr val="46C6A9">
              <a:alpha val="12000"/>
            </a:srgbClr>
          </a:solidFill>
          <a:ln w="12700" cap="flat" cmpd="sng">
            <a:solidFill>
              <a:srgbClr val="46C6A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000" kern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" name="AutoShape 5"/>
          <p:cNvSpPr/>
          <p:nvPr/>
        </p:nvSpPr>
        <p:spPr>
          <a:xfrm>
            <a:off x="802640" y="1085850"/>
            <a:ext cx="76200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0" i="0" u="none" strike="noStrike" kern="0">
                <a:solidFill>
                  <a:schemeClr val="tx1">
                    <a:alpha val="94902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AI 贯穿</a:t>
            </a:r>
            <a:r>
              <a:rPr lang="en-US" sz="1400" b="1" i="0" u="none" strike="noStrike" kern="0">
                <a:solidFill>
                  <a:schemeClr val="tx1">
                    <a:alpha val="94902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数据上传 → 诊断 → 解读</a:t>
            </a:r>
            <a:r>
              <a:rPr lang="en-US" sz="1000" b="0" i="0" u="none" strike="noStrike" kern="0">
                <a:solidFill>
                  <a:schemeClr val="tx1">
                    <a:alpha val="94902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全流程，但</a:t>
            </a:r>
            <a:r>
              <a:rPr lang="en-US" sz="1400" b="1" i="0" u="none" strike="noStrike" kern="0">
                <a:solidFill>
                  <a:schemeClr val="tx1">
                    <a:alpha val="94902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永不触碰税务计算</a:t>
            </a:r>
            <a:r>
              <a:rPr lang="en-US" sz="1400" b="0" i="0" u="none" strike="noStrike" kern="0">
                <a:solidFill>
                  <a:schemeClr val="tx1">
                    <a:alpha val="94902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sz="1000" b="0" i="0" u="none" strike="noStrike" kern="0">
                <a:solidFill>
                  <a:schemeClr val="tx1">
                    <a:alpha val="94902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引擎与 AI 物理隔离）</a:t>
            </a:r>
            <a:endParaRPr lang="en-US" sz="1000" b="0" i="0" u="none" strike="noStrike" kern="0">
              <a:solidFill>
                <a:schemeClr val="tx1">
                  <a:alpha val="94902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612140" y="1543050"/>
            <a:ext cx="8001000" cy="28575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000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3" name="AutoShape 7"/>
          <p:cNvSpPr/>
          <p:nvPr/>
        </p:nvSpPr>
        <p:spPr>
          <a:xfrm>
            <a:off x="755015" y="1590675"/>
            <a:ext cx="1524000" cy="19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0" u="none" strike="noStrike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AI 能力</a:t>
            </a:r>
            <a:endParaRPr lang="en-US" sz="1200" b="1" i="0" u="none" strike="noStrike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AutoShape 8"/>
          <p:cNvSpPr/>
          <p:nvPr/>
        </p:nvSpPr>
        <p:spPr>
          <a:xfrm>
            <a:off x="2374265" y="1590675"/>
            <a:ext cx="3238500" cy="19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i="0" u="none" strike="noStrike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解决什么问题</a:t>
            </a:r>
            <a:endParaRPr lang="en-US" sz="1000" b="1" i="0" u="none" strike="noStrike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" name="AutoShape 9"/>
          <p:cNvSpPr/>
          <p:nvPr/>
        </p:nvSpPr>
        <p:spPr>
          <a:xfrm>
            <a:off x="5708015" y="1590675"/>
            <a:ext cx="2762250" cy="19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i="0" u="none" strike="noStrike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交互方式</a:t>
            </a:r>
            <a:endParaRPr lang="en-US" sz="1000" b="1" i="0" u="none" strike="noStrike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" name="AutoShape 10"/>
          <p:cNvSpPr/>
          <p:nvPr/>
        </p:nvSpPr>
        <p:spPr>
          <a:xfrm>
            <a:off x="612140" y="1828800"/>
            <a:ext cx="8001000" cy="40005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200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7" name="AutoShape 11"/>
          <p:cNvSpPr/>
          <p:nvPr/>
        </p:nvSpPr>
        <p:spPr>
          <a:xfrm>
            <a:off x="755015" y="1905000"/>
            <a:ext cx="152400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智能字段映射</a:t>
            </a:r>
            <a:endParaRPr lang="en-US" sz="120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8" name="AutoShape 12"/>
          <p:cNvSpPr/>
          <p:nvPr/>
        </p:nvSpPr>
        <p:spPr>
          <a:xfrm>
            <a:off x="2374265" y="1905000"/>
            <a:ext cx="323850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chemeClr val="tx1">
                    <a:alpha val="85098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各国不同表头 → 自动识别为标准字段</a:t>
            </a:r>
            <a:endParaRPr lang="en-US" sz="1200" b="0" i="0" u="none" strike="noStrike" kern="0">
              <a:solidFill>
                <a:schemeClr val="tx1">
                  <a:alpha val="85098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" name="AutoShape 13"/>
          <p:cNvSpPr/>
          <p:nvPr/>
        </p:nvSpPr>
        <p:spPr>
          <a:xfrm>
            <a:off x="5708015" y="1905000"/>
            <a:ext cx="276225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chemeClr val="tx1">
                    <a:alpha val="85098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推荐 Top 3，人工点选确认</a:t>
            </a:r>
            <a:endParaRPr lang="en-US" sz="1200" b="0" i="0" u="none" strike="noStrike" kern="0">
              <a:solidFill>
                <a:schemeClr val="tx1">
                  <a:alpha val="85098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" name="AutoShape 14"/>
          <p:cNvSpPr/>
          <p:nvPr/>
        </p:nvSpPr>
        <p:spPr>
          <a:xfrm>
            <a:off x="612140" y="2228850"/>
            <a:ext cx="8001000" cy="40005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200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1" name="AutoShape 15"/>
          <p:cNvSpPr/>
          <p:nvPr/>
        </p:nvSpPr>
        <p:spPr>
          <a:xfrm>
            <a:off x="755015" y="2305050"/>
            <a:ext cx="152400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数据异常检测</a:t>
            </a:r>
            <a:endParaRPr lang="en-US" sz="120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2" name="AutoShape 16"/>
          <p:cNvSpPr/>
          <p:nvPr/>
        </p:nvSpPr>
        <p:spPr>
          <a:xfrm>
            <a:off x="2374265" y="2305050"/>
            <a:ext cx="323850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chemeClr val="tx1">
                    <a:alpha val="85098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ETR&gt;100%、同比波动±200%、关键字段缺失</a:t>
            </a:r>
            <a:endParaRPr lang="en-US" sz="1200" b="0" i="0" u="none" strike="noStrike" kern="0">
              <a:solidFill>
                <a:schemeClr val="tx1">
                  <a:alpha val="85098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" name="AutoShape 17"/>
          <p:cNvSpPr/>
          <p:nvPr/>
        </p:nvSpPr>
        <p:spPr>
          <a:xfrm>
            <a:off x="5708015" y="2305050"/>
            <a:ext cx="276225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chemeClr val="tx1">
                    <a:alpha val="85098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标记 + 解释原因</a:t>
            </a:r>
            <a:endParaRPr lang="en-US" sz="1200" b="0" i="0" u="none" strike="noStrike" kern="0">
              <a:solidFill>
                <a:schemeClr val="tx1">
                  <a:alpha val="85098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4" name="AutoShape 18"/>
          <p:cNvSpPr/>
          <p:nvPr/>
        </p:nvSpPr>
        <p:spPr>
          <a:xfrm>
            <a:off x="612140" y="2628900"/>
            <a:ext cx="8001000" cy="40005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200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5" name="AutoShape 19"/>
          <p:cNvSpPr/>
          <p:nvPr/>
        </p:nvSpPr>
        <p:spPr>
          <a:xfrm>
            <a:off x="755015" y="2705100"/>
            <a:ext cx="152400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缺失值补全</a:t>
            </a:r>
            <a:endParaRPr lang="en-US" sz="120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6" name="AutoShape 20"/>
          <p:cNvSpPr/>
          <p:nvPr/>
        </p:nvSpPr>
        <p:spPr>
          <a:xfrm>
            <a:off x="2374265" y="2705100"/>
            <a:ext cx="323850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chemeClr val="tx1">
                    <a:alpha val="85098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基于历史数据给出建议值</a:t>
            </a:r>
            <a:endParaRPr lang="en-US" sz="1200" b="0" i="0" u="none" strike="noStrike" kern="0">
              <a:solidFill>
                <a:schemeClr val="tx1">
                  <a:alpha val="85098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" name="AutoShape 21"/>
          <p:cNvSpPr/>
          <p:nvPr/>
        </p:nvSpPr>
        <p:spPr>
          <a:xfrm>
            <a:off x="5708015" y="2705100"/>
            <a:ext cx="276225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chemeClr val="tx1">
                    <a:alpha val="85098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「采纳 / 拒绝」按钮</a:t>
            </a:r>
            <a:endParaRPr lang="en-US" sz="1200" b="0" i="0" u="none" strike="noStrike" kern="0">
              <a:solidFill>
                <a:schemeClr val="tx1">
                  <a:alpha val="85098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8" name="AutoShape 22"/>
          <p:cNvSpPr/>
          <p:nvPr/>
        </p:nvSpPr>
        <p:spPr>
          <a:xfrm>
            <a:off x="612140" y="3028950"/>
            <a:ext cx="8001000" cy="40005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200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AutoShape 23"/>
          <p:cNvSpPr/>
          <p:nvPr/>
        </p:nvSpPr>
        <p:spPr>
          <a:xfrm>
            <a:off x="755015" y="3105150"/>
            <a:ext cx="152400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风险简报</a:t>
            </a:r>
            <a:endParaRPr lang="en-US" sz="120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0" name="AutoShape 24"/>
          <p:cNvSpPr/>
          <p:nvPr/>
        </p:nvSpPr>
        <p:spPr>
          <a:xfrm>
            <a:off x="2374265" y="3105150"/>
            <a:ext cx="323850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chemeClr val="tx1">
                    <a:alpha val="85098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一键生成全集团高风险摘要（≤200字）</a:t>
            </a:r>
            <a:endParaRPr lang="en-US" sz="1200" b="0" i="0" u="none" strike="noStrike" kern="0">
              <a:solidFill>
                <a:schemeClr val="tx1">
                  <a:alpha val="85098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" name="AutoShape 25"/>
          <p:cNvSpPr/>
          <p:nvPr/>
        </p:nvSpPr>
        <p:spPr>
          <a:xfrm>
            <a:off x="5708015" y="3105150"/>
            <a:ext cx="276225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chemeClr val="tx1">
                    <a:alpha val="85098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卡片展示</a:t>
            </a:r>
            <a:endParaRPr lang="en-US" sz="1200" b="0" i="0" u="none" strike="noStrike" kern="0">
              <a:solidFill>
                <a:schemeClr val="tx1">
                  <a:alpha val="85098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AutoShape 26"/>
          <p:cNvSpPr/>
          <p:nvPr/>
        </p:nvSpPr>
        <p:spPr>
          <a:xfrm>
            <a:off x="612140" y="3429000"/>
            <a:ext cx="8001000" cy="40005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200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43" name="AutoShape 27"/>
          <p:cNvSpPr/>
          <p:nvPr/>
        </p:nvSpPr>
        <p:spPr>
          <a:xfrm>
            <a:off x="755015" y="3505200"/>
            <a:ext cx="152400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税务 Copilot</a:t>
            </a:r>
            <a:endParaRPr lang="en-US" sz="120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4" name="AutoShape 28"/>
          <p:cNvSpPr/>
          <p:nvPr/>
        </p:nvSpPr>
        <p:spPr>
          <a:xfrm>
            <a:off x="2374265" y="3505200"/>
            <a:ext cx="323850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chemeClr val="tx1">
                    <a:alpha val="85098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回答"为什么这个辖区 FAIL"</a:t>
            </a:r>
            <a:endParaRPr lang="en-US" sz="1200" b="0" i="0" u="none" strike="noStrike" kern="0">
              <a:solidFill>
                <a:schemeClr val="tx1">
                  <a:alpha val="85098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" name="AutoShape 29"/>
          <p:cNvSpPr/>
          <p:nvPr/>
        </p:nvSpPr>
        <p:spPr>
          <a:xfrm>
            <a:off x="5708015" y="3505200"/>
            <a:ext cx="2762250" cy="2476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chemeClr val="tx1">
                    <a:alpha val="85098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对话问答</a:t>
            </a:r>
            <a:endParaRPr lang="en-US" sz="1200" b="0" i="0" u="none" strike="noStrike" kern="0">
              <a:solidFill>
                <a:schemeClr val="tx1">
                  <a:alpha val="85098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7" name="AutoShape 31"/>
          <p:cNvSpPr/>
          <p:nvPr/>
        </p:nvSpPr>
        <p:spPr>
          <a:xfrm>
            <a:off x="802640" y="4114800"/>
            <a:ext cx="7620000" cy="2095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000" b="1" i="0" u="none" strike="noStrike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8" name="AutoShape 32"/>
          <p:cNvSpPr/>
          <p:nvPr/>
        </p:nvSpPr>
        <p:spPr>
          <a:xfrm>
            <a:off x="2766695" y="4364355"/>
            <a:ext cx="6263640" cy="1682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0" i="0" u="none" strike="noStrike" kern="0">
                <a:solidFill>
                  <a:schemeClr val="tx1">
                    <a:alpha val="85098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每个 AI 输出都带「确认 / 拒绝」按钮，确认后才生效；AI 服务不可用时自动降级，三项测试照常运行</a:t>
            </a:r>
            <a:endParaRPr lang="en-US" sz="900" b="0" i="0" u="none" strike="noStrike" kern="0">
              <a:solidFill>
                <a:schemeClr val="tx1">
                  <a:alpha val="85098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9" name="Freeform 63"/>
          <p:cNvSpPr>
            <a:spLocks noChangeAspect="1"/>
          </p:cNvSpPr>
          <p:nvPr/>
        </p:nvSpPr>
        <p:spPr bwMode="auto">
          <a:xfrm>
            <a:off x="811213" y="3946525"/>
            <a:ext cx="466725" cy="452438"/>
          </a:xfrm>
          <a:custGeom>
            <a:avLst/>
            <a:gdLst>
              <a:gd name="T0" fmla="*/ 244 w 312"/>
              <a:gd name="T1" fmla="*/ 0 h 303"/>
              <a:gd name="T2" fmla="*/ 209 w 312"/>
              <a:gd name="T3" fmla="*/ 12 h 303"/>
              <a:gd name="T4" fmla="*/ 181 w 312"/>
              <a:gd name="T5" fmla="*/ 49 h 303"/>
              <a:gd name="T6" fmla="*/ 198 w 312"/>
              <a:gd name="T7" fmla="*/ 112 h 303"/>
              <a:gd name="T8" fmla="*/ 195 w 312"/>
              <a:gd name="T9" fmla="*/ 112 h 303"/>
              <a:gd name="T10" fmla="*/ 177 w 312"/>
              <a:gd name="T11" fmla="*/ 92 h 303"/>
              <a:gd name="T12" fmla="*/ 92 w 312"/>
              <a:gd name="T13" fmla="*/ 177 h 303"/>
              <a:gd name="T14" fmla="*/ 71 w 312"/>
              <a:gd name="T15" fmla="*/ 174 h 303"/>
              <a:gd name="T16" fmla="*/ 29 w 312"/>
              <a:gd name="T17" fmla="*/ 192 h 303"/>
              <a:gd name="T18" fmla="*/ 7 w 312"/>
              <a:gd name="T19" fmla="*/ 255 h 303"/>
              <a:gd name="T20" fmla="*/ 14 w 312"/>
              <a:gd name="T21" fmla="*/ 266 h 303"/>
              <a:gd name="T22" fmla="*/ 14 w 312"/>
              <a:gd name="T23" fmla="*/ 266 h 303"/>
              <a:gd name="T24" fmla="*/ 53 w 312"/>
              <a:gd name="T25" fmla="*/ 228 h 303"/>
              <a:gd name="T26" fmla="*/ 80 w 312"/>
              <a:gd name="T27" fmla="*/ 255 h 303"/>
              <a:gd name="T28" fmla="*/ 40 w 312"/>
              <a:gd name="T29" fmla="*/ 296 h 303"/>
              <a:gd name="T30" fmla="*/ 70 w 312"/>
              <a:gd name="T31" fmla="*/ 303 h 303"/>
              <a:gd name="T32" fmla="*/ 100 w 312"/>
              <a:gd name="T33" fmla="*/ 295 h 303"/>
              <a:gd name="T34" fmla="*/ 134 w 312"/>
              <a:gd name="T35" fmla="*/ 244 h 303"/>
              <a:gd name="T36" fmla="*/ 116 w 312"/>
              <a:gd name="T37" fmla="*/ 191 h 303"/>
              <a:gd name="T38" fmla="*/ 118 w 312"/>
              <a:gd name="T39" fmla="*/ 190 h 303"/>
              <a:gd name="T40" fmla="*/ 138 w 312"/>
              <a:gd name="T41" fmla="*/ 209 h 303"/>
              <a:gd name="T42" fmla="*/ 222 w 312"/>
              <a:gd name="T43" fmla="*/ 126 h 303"/>
              <a:gd name="T44" fmla="*/ 245 w 312"/>
              <a:gd name="T45" fmla="*/ 129 h 303"/>
              <a:gd name="T46" fmla="*/ 256 w 312"/>
              <a:gd name="T47" fmla="*/ 127 h 303"/>
              <a:gd name="T48" fmla="*/ 298 w 312"/>
              <a:gd name="T49" fmla="*/ 97 h 303"/>
              <a:gd name="T50" fmla="*/ 302 w 312"/>
              <a:gd name="T51" fmla="*/ 34 h 303"/>
              <a:gd name="T52" fmla="*/ 260 w 312"/>
              <a:gd name="T53" fmla="*/ 75 h 303"/>
              <a:gd name="T54" fmla="*/ 234 w 312"/>
              <a:gd name="T55" fmla="*/ 48 h 303"/>
              <a:gd name="T56" fmla="*/ 274 w 312"/>
              <a:gd name="T57" fmla="*/ 7 h 303"/>
              <a:gd name="T58" fmla="*/ 244 w 312"/>
              <a:gd name="T59" fmla="*/ 0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12" h="303">
                <a:moveTo>
                  <a:pt x="244" y="0"/>
                </a:moveTo>
                <a:cubicBezTo>
                  <a:pt x="231" y="0"/>
                  <a:pt x="219" y="4"/>
                  <a:pt x="209" y="12"/>
                </a:cubicBezTo>
                <a:cubicBezTo>
                  <a:pt x="197" y="22"/>
                  <a:pt x="185" y="34"/>
                  <a:pt x="181" y="49"/>
                </a:cubicBezTo>
                <a:cubicBezTo>
                  <a:pt x="175" y="72"/>
                  <a:pt x="184" y="94"/>
                  <a:pt x="198" y="112"/>
                </a:cubicBezTo>
                <a:cubicBezTo>
                  <a:pt x="197" y="112"/>
                  <a:pt x="196" y="112"/>
                  <a:pt x="195" y="112"/>
                </a:cubicBezTo>
                <a:cubicBezTo>
                  <a:pt x="185" y="112"/>
                  <a:pt x="181" y="101"/>
                  <a:pt x="177" y="92"/>
                </a:cubicBezTo>
                <a:cubicBezTo>
                  <a:pt x="148" y="120"/>
                  <a:pt x="121" y="150"/>
                  <a:pt x="92" y="177"/>
                </a:cubicBezTo>
                <a:cubicBezTo>
                  <a:pt x="85" y="175"/>
                  <a:pt x="78" y="174"/>
                  <a:pt x="71" y="174"/>
                </a:cubicBezTo>
                <a:cubicBezTo>
                  <a:pt x="55" y="174"/>
                  <a:pt x="39" y="180"/>
                  <a:pt x="29" y="192"/>
                </a:cubicBezTo>
                <a:cubicBezTo>
                  <a:pt x="11" y="207"/>
                  <a:pt x="0" y="232"/>
                  <a:pt x="7" y="255"/>
                </a:cubicBezTo>
                <a:cubicBezTo>
                  <a:pt x="9" y="258"/>
                  <a:pt x="9" y="266"/>
                  <a:pt x="14" y="266"/>
                </a:cubicBezTo>
                <a:cubicBezTo>
                  <a:pt x="14" y="266"/>
                  <a:pt x="14" y="266"/>
                  <a:pt x="14" y="266"/>
                </a:cubicBezTo>
                <a:cubicBezTo>
                  <a:pt x="28" y="254"/>
                  <a:pt x="40" y="240"/>
                  <a:pt x="53" y="228"/>
                </a:cubicBezTo>
                <a:cubicBezTo>
                  <a:pt x="62" y="236"/>
                  <a:pt x="71" y="246"/>
                  <a:pt x="80" y="255"/>
                </a:cubicBezTo>
                <a:cubicBezTo>
                  <a:pt x="67" y="269"/>
                  <a:pt x="53" y="282"/>
                  <a:pt x="40" y="296"/>
                </a:cubicBezTo>
                <a:cubicBezTo>
                  <a:pt x="49" y="300"/>
                  <a:pt x="60" y="303"/>
                  <a:pt x="70" y="303"/>
                </a:cubicBezTo>
                <a:cubicBezTo>
                  <a:pt x="81" y="303"/>
                  <a:pt x="91" y="300"/>
                  <a:pt x="100" y="295"/>
                </a:cubicBezTo>
                <a:cubicBezTo>
                  <a:pt x="117" y="282"/>
                  <a:pt x="133" y="265"/>
                  <a:pt x="134" y="244"/>
                </a:cubicBezTo>
                <a:cubicBezTo>
                  <a:pt x="137" y="224"/>
                  <a:pt x="127" y="206"/>
                  <a:pt x="116" y="191"/>
                </a:cubicBezTo>
                <a:cubicBezTo>
                  <a:pt x="117" y="190"/>
                  <a:pt x="117" y="190"/>
                  <a:pt x="118" y="190"/>
                </a:cubicBezTo>
                <a:cubicBezTo>
                  <a:pt x="128" y="190"/>
                  <a:pt x="133" y="202"/>
                  <a:pt x="138" y="209"/>
                </a:cubicBezTo>
                <a:cubicBezTo>
                  <a:pt x="166" y="182"/>
                  <a:pt x="194" y="153"/>
                  <a:pt x="222" y="126"/>
                </a:cubicBezTo>
                <a:cubicBezTo>
                  <a:pt x="230" y="127"/>
                  <a:pt x="237" y="129"/>
                  <a:pt x="245" y="129"/>
                </a:cubicBezTo>
                <a:cubicBezTo>
                  <a:pt x="249" y="129"/>
                  <a:pt x="252" y="128"/>
                  <a:pt x="256" y="127"/>
                </a:cubicBezTo>
                <a:cubicBezTo>
                  <a:pt x="274" y="125"/>
                  <a:pt x="286" y="110"/>
                  <a:pt x="298" y="97"/>
                </a:cubicBezTo>
                <a:cubicBezTo>
                  <a:pt x="312" y="79"/>
                  <a:pt x="311" y="54"/>
                  <a:pt x="302" y="34"/>
                </a:cubicBezTo>
                <a:cubicBezTo>
                  <a:pt x="287" y="47"/>
                  <a:pt x="274" y="62"/>
                  <a:pt x="260" y="75"/>
                </a:cubicBezTo>
                <a:cubicBezTo>
                  <a:pt x="251" y="66"/>
                  <a:pt x="242" y="57"/>
                  <a:pt x="234" y="48"/>
                </a:cubicBezTo>
                <a:cubicBezTo>
                  <a:pt x="247" y="34"/>
                  <a:pt x="261" y="20"/>
                  <a:pt x="274" y="7"/>
                </a:cubicBezTo>
                <a:cubicBezTo>
                  <a:pt x="265" y="2"/>
                  <a:pt x="255" y="0"/>
                  <a:pt x="244" y="0"/>
                </a:cubicBezTo>
              </a:path>
            </a:pathLst>
          </a:custGeom>
          <a:solidFill>
            <a:srgbClr val="222732"/>
          </a:solidFill>
          <a:ln>
            <a:noFill/>
          </a:ln>
        </p:spPr>
        <p:txBody>
          <a:bodyPr lIns="68580" tIns="34290" rIns="68580" bIns="3429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015">
              <a:latin typeface="+mn-lt"/>
              <a:ea typeface="+mn-ea"/>
            </a:endParaRPr>
          </a:p>
        </p:txBody>
      </p:sp>
      <p:sp>
        <p:nvSpPr>
          <p:cNvPr id="25613" name="文本框 24"/>
          <p:cNvSpPr txBox="1">
            <a:spLocks noChangeArrowheads="1"/>
          </p:cNvSpPr>
          <p:nvPr/>
        </p:nvSpPr>
        <p:spPr bwMode="auto">
          <a:xfrm>
            <a:off x="1214755" y="3979545"/>
            <a:ext cx="5161915" cy="5327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r>
              <a:rPr lang="en-US" altLang="zh-CN" sz="2000">
                <a:solidFill>
                  <a:srgbClr val="222732"/>
                </a:solidFill>
                <a:latin typeface="HelveticaNeueLT Pro 67 MdCn"/>
                <a:ea typeface="微软雅黑" panose="020B0503020204020204" pitchFamily="34" charset="-122"/>
              </a:rPr>
              <a:t>AI</a:t>
            </a:r>
            <a:r>
              <a:rPr lang="zh-CN" altLang="en-US" sz="2000">
                <a:solidFill>
                  <a:srgbClr val="222732"/>
                </a:solidFill>
                <a:latin typeface="HelveticaNeueLT Pro 67 MdCn"/>
                <a:ea typeface="微软雅黑" panose="020B0503020204020204" pitchFamily="34" charset="-122"/>
              </a:rPr>
              <a:t>设计哲学：</a:t>
            </a:r>
            <a:r>
              <a:rPr lang="en-US" altLang="zh-CN" sz="2000">
                <a:solidFill>
                  <a:srgbClr val="222732"/>
                </a:solidFill>
                <a:latin typeface="HelveticaNeueLT Pro 67 MdCn"/>
                <a:ea typeface="微软雅黑" panose="020B0503020204020204" pitchFamily="34" charset="-122"/>
              </a:rPr>
              <a:t>AI </a:t>
            </a:r>
            <a:r>
              <a:rPr lang="zh-CN" altLang="en-US" sz="2000">
                <a:solidFill>
                  <a:srgbClr val="222732"/>
                </a:solidFill>
                <a:latin typeface="HelveticaNeueLT Pro 67 MdCn"/>
                <a:ea typeface="微软雅黑" panose="020B0503020204020204" pitchFamily="34" charset="-122"/>
              </a:rPr>
              <a:t>给建议，人做决策</a:t>
            </a:r>
            <a:endParaRPr lang="zh-CN" altLang="en-US" sz="2000">
              <a:solidFill>
                <a:srgbClr val="222732"/>
              </a:solidFill>
              <a:latin typeface="HelveticaNeueLT Pro 67 MdCn"/>
              <a:ea typeface="微软雅黑" panose="020B0503020204020204" pitchFamily="34" charset="-122"/>
            </a:endParaRPr>
          </a:p>
          <a:p>
            <a:endParaRPr lang="zh-CN" altLang="en-US" sz="2000">
              <a:solidFill>
                <a:srgbClr val="222732"/>
              </a:solidFill>
              <a:latin typeface="HelveticaNeueLT Pro 67 MdCn"/>
              <a:ea typeface="微软雅黑" panose="020B0503020204020204" pitchFamily="34" charset="-122"/>
            </a:endParaRPr>
          </a:p>
        </p:txBody>
      </p:sp>
      <p:cxnSp>
        <p:nvCxnSpPr>
          <p:cNvPr id="50" name="直接连接符 23"/>
          <p:cNvCxnSpPr/>
          <p:nvPr/>
        </p:nvCxnSpPr>
        <p:spPr>
          <a:xfrm>
            <a:off x="1278255" y="4592320"/>
            <a:ext cx="760413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5188" y="161449"/>
            <a:ext cx="2265362" cy="58991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400" b="1" dirty="0">
                <a:solidFill>
                  <a:srgbClr val="222732"/>
                </a:solidFill>
                <a:latin typeface="+mn-lt"/>
                <a:ea typeface="+mn-ea"/>
              </a:rPr>
              <a:t>MORE THAN TEMPLATE</a:t>
            </a:r>
            <a:endParaRPr kumimoji="1" lang="en-US" altLang="zh-CN" sz="1400" b="1" dirty="0">
              <a:solidFill>
                <a:srgbClr val="22273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550" b="1" dirty="0">
                <a:solidFill>
                  <a:srgbClr val="222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技术栈</a:t>
            </a:r>
            <a:endParaRPr kumimoji="1" lang="zh-CN" altLang="en-US" sz="1550" b="1" dirty="0">
              <a:solidFill>
                <a:srgbClr val="22273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9888" y="219075"/>
            <a:ext cx="495300" cy="474663"/>
          </a:xfrm>
          <a:prstGeom prst="rect">
            <a:avLst/>
          </a:prstGeom>
          <a:noFill/>
          <a:ln>
            <a:solidFill>
              <a:srgbClr val="2227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800" b="1" dirty="0">
                <a:solidFill>
                  <a:srgbClr val="222732"/>
                </a:solidFill>
              </a:rPr>
              <a:t>LOGO</a:t>
            </a:r>
            <a:endParaRPr kumimoji="1" lang="zh-CN" altLang="en-US" sz="800" b="1" dirty="0">
              <a:solidFill>
                <a:srgbClr val="222732"/>
              </a:solidFill>
            </a:endParaRPr>
          </a:p>
        </p:txBody>
      </p:sp>
      <p:sp>
        <p:nvSpPr>
          <p:cNvPr id="13315" name="文本框 3"/>
          <p:cNvSpPr txBox="1">
            <a:spLocks noChangeArrowheads="1"/>
          </p:cNvSpPr>
          <p:nvPr/>
        </p:nvSpPr>
        <p:spPr bwMode="auto">
          <a:xfrm>
            <a:off x="3589338" y="4737100"/>
            <a:ext cx="1965325" cy="220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kumimoji="1" lang="en-US" altLang="zh-CN" sz="1000">
                <a:solidFill>
                  <a:srgbClr val="222732"/>
                </a:solidFill>
                <a:latin typeface="Century Gothic" panose="020B0502020202020204"/>
                <a:ea typeface="微软雅黑" panose="020B0503020204020204" pitchFamily="34" charset="-122"/>
              </a:rPr>
              <a:t>LOGO</a:t>
            </a:r>
            <a:r>
              <a:rPr kumimoji="1" lang="zh-CN" altLang="en-US" sz="1000">
                <a:solidFill>
                  <a:srgbClr val="222732"/>
                </a:solidFill>
                <a:latin typeface="Century Gothic" panose="020B0502020202020204"/>
                <a:ea typeface="微软雅黑" panose="020B0503020204020204" pitchFamily="34" charset="-122"/>
              </a:rPr>
              <a:t> </a:t>
            </a:r>
            <a:r>
              <a:rPr kumimoji="1" lang="en-US" altLang="zh-CN" sz="1000">
                <a:solidFill>
                  <a:srgbClr val="222732"/>
                </a:solidFill>
                <a:latin typeface="Century Gothic" panose="020B0502020202020204"/>
                <a:ea typeface="微软雅黑" panose="020B0503020204020204" pitchFamily="34" charset="-122"/>
              </a:rPr>
              <a:t>|</a:t>
            </a:r>
            <a:r>
              <a:rPr kumimoji="1" lang="zh-CN" altLang="en-US" sz="1000">
                <a:solidFill>
                  <a:srgbClr val="222732"/>
                </a:solidFill>
                <a:latin typeface="Century Gothic" panose="020B0502020202020204"/>
                <a:ea typeface="微软雅黑" panose="020B0503020204020204" pitchFamily="34" charset="-122"/>
              </a:rPr>
              <a:t> </a:t>
            </a:r>
            <a:r>
              <a:rPr kumimoji="1" lang="en-US" altLang="zh-CN" sz="1000">
                <a:solidFill>
                  <a:srgbClr val="222732"/>
                </a:solidFill>
                <a:latin typeface="Century Gothic" panose="020B0502020202020204"/>
                <a:ea typeface="微软雅黑" panose="020B0503020204020204" pitchFamily="34" charset="-122"/>
              </a:rPr>
              <a:t>COMPANY</a:t>
            </a:r>
            <a:endParaRPr kumimoji="1" lang="zh-CN" altLang="en-US" sz="1000">
              <a:solidFill>
                <a:srgbClr val="222732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6162675" y="1344613"/>
            <a:ext cx="2063750" cy="2794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/>
          </a:p>
        </p:txBody>
      </p:sp>
      <p:sp>
        <p:nvSpPr>
          <p:cNvPr id="6" name="等腰三角形 5"/>
          <p:cNvSpPr/>
          <p:nvPr/>
        </p:nvSpPr>
        <p:spPr bwMode="auto">
          <a:xfrm rot="16200000">
            <a:off x="5797550" y="1285875"/>
            <a:ext cx="555625" cy="396875"/>
          </a:xfrm>
          <a:prstGeom prst="triangl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8226425" y="658813"/>
            <a:ext cx="976313" cy="965200"/>
          </a:xfrm>
          <a:custGeom>
            <a:avLst/>
            <a:gdLst>
              <a:gd name="connsiteX0" fmla="*/ 0 w 917620"/>
              <a:gd name="connsiteY0" fmla="*/ 0 h 280367"/>
              <a:gd name="connsiteX1" fmla="*/ 917620 w 917620"/>
              <a:gd name="connsiteY1" fmla="*/ 0 h 280367"/>
              <a:gd name="connsiteX2" fmla="*/ 917620 w 917620"/>
              <a:gd name="connsiteY2" fmla="*/ 280367 h 280367"/>
              <a:gd name="connsiteX3" fmla="*/ 0 w 917620"/>
              <a:gd name="connsiteY3" fmla="*/ 280367 h 280367"/>
              <a:gd name="connsiteX4" fmla="*/ 0 w 917620"/>
              <a:gd name="connsiteY4" fmla="*/ 0 h 280367"/>
              <a:gd name="connsiteX0-1" fmla="*/ 0 w 951487"/>
              <a:gd name="connsiteY0-2" fmla="*/ 457200 h 737567"/>
              <a:gd name="connsiteX1-3" fmla="*/ 951487 w 951487"/>
              <a:gd name="connsiteY1-4" fmla="*/ 0 h 737567"/>
              <a:gd name="connsiteX2-5" fmla="*/ 917620 w 951487"/>
              <a:gd name="connsiteY2-6" fmla="*/ 737567 h 737567"/>
              <a:gd name="connsiteX3-7" fmla="*/ 0 w 951487"/>
              <a:gd name="connsiteY3-8" fmla="*/ 737567 h 737567"/>
              <a:gd name="connsiteX4-9" fmla="*/ 0 w 951487"/>
              <a:gd name="connsiteY4-10" fmla="*/ 457200 h 737567"/>
              <a:gd name="connsiteX0-11" fmla="*/ 0 w 951487"/>
              <a:gd name="connsiteY0-12" fmla="*/ 457200 h 737567"/>
              <a:gd name="connsiteX1-13" fmla="*/ 951487 w 951487"/>
              <a:gd name="connsiteY1-14" fmla="*/ 0 h 737567"/>
              <a:gd name="connsiteX2-15" fmla="*/ 951486 w 951487"/>
              <a:gd name="connsiteY2-16" fmla="*/ 441234 h 737567"/>
              <a:gd name="connsiteX3-17" fmla="*/ 0 w 951487"/>
              <a:gd name="connsiteY3-18" fmla="*/ 737567 h 737567"/>
              <a:gd name="connsiteX4-19" fmla="*/ 0 w 951487"/>
              <a:gd name="connsiteY4-20" fmla="*/ 457200 h 737567"/>
              <a:gd name="connsiteX0-21" fmla="*/ 0 w 976887"/>
              <a:gd name="connsiteY0-22" fmla="*/ 685800 h 966167"/>
              <a:gd name="connsiteX1-23" fmla="*/ 976887 w 976887"/>
              <a:gd name="connsiteY1-24" fmla="*/ 0 h 966167"/>
              <a:gd name="connsiteX2-25" fmla="*/ 951486 w 976887"/>
              <a:gd name="connsiteY2-26" fmla="*/ 669834 h 966167"/>
              <a:gd name="connsiteX3-27" fmla="*/ 0 w 976887"/>
              <a:gd name="connsiteY3-28" fmla="*/ 966167 h 966167"/>
              <a:gd name="connsiteX4-29" fmla="*/ 0 w 976887"/>
              <a:gd name="connsiteY4-30" fmla="*/ 685800 h 966167"/>
              <a:gd name="connsiteX0-31" fmla="*/ 0 w 976887"/>
              <a:gd name="connsiteY0-32" fmla="*/ 685800 h 966167"/>
              <a:gd name="connsiteX1-33" fmla="*/ 976887 w 976887"/>
              <a:gd name="connsiteY1-34" fmla="*/ 0 h 966167"/>
              <a:gd name="connsiteX2-35" fmla="*/ 968419 w 976887"/>
              <a:gd name="connsiteY2-36" fmla="*/ 534367 h 966167"/>
              <a:gd name="connsiteX3-37" fmla="*/ 0 w 976887"/>
              <a:gd name="connsiteY3-38" fmla="*/ 966167 h 966167"/>
              <a:gd name="connsiteX4-39" fmla="*/ 0 w 976887"/>
              <a:gd name="connsiteY4-40" fmla="*/ 685800 h 966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76887" h="966167">
                <a:moveTo>
                  <a:pt x="0" y="685800"/>
                </a:moveTo>
                <a:lnTo>
                  <a:pt x="976887" y="0"/>
                </a:lnTo>
                <a:cubicBezTo>
                  <a:pt x="976887" y="147078"/>
                  <a:pt x="968419" y="387289"/>
                  <a:pt x="968419" y="534367"/>
                </a:cubicBezTo>
                <a:lnTo>
                  <a:pt x="0" y="966167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/>
          </a:p>
        </p:txBody>
      </p:sp>
      <p:sp>
        <p:nvSpPr>
          <p:cNvPr id="8" name="矩形 6_7"/>
          <p:cNvSpPr/>
          <p:nvPr/>
        </p:nvSpPr>
        <p:spPr bwMode="auto">
          <a:xfrm>
            <a:off x="8226425" y="1384300"/>
            <a:ext cx="1077913" cy="788988"/>
          </a:xfrm>
          <a:custGeom>
            <a:avLst/>
            <a:gdLst>
              <a:gd name="connsiteX0" fmla="*/ 0 w 917620"/>
              <a:gd name="connsiteY0" fmla="*/ 0 h 280367"/>
              <a:gd name="connsiteX1" fmla="*/ 917620 w 917620"/>
              <a:gd name="connsiteY1" fmla="*/ 0 h 280367"/>
              <a:gd name="connsiteX2" fmla="*/ 917620 w 917620"/>
              <a:gd name="connsiteY2" fmla="*/ 280367 h 280367"/>
              <a:gd name="connsiteX3" fmla="*/ 0 w 917620"/>
              <a:gd name="connsiteY3" fmla="*/ 280367 h 280367"/>
              <a:gd name="connsiteX4" fmla="*/ 0 w 917620"/>
              <a:gd name="connsiteY4" fmla="*/ 0 h 280367"/>
              <a:gd name="connsiteX0-1" fmla="*/ 0 w 951487"/>
              <a:gd name="connsiteY0-2" fmla="*/ 457200 h 737567"/>
              <a:gd name="connsiteX1-3" fmla="*/ 951487 w 951487"/>
              <a:gd name="connsiteY1-4" fmla="*/ 0 h 737567"/>
              <a:gd name="connsiteX2-5" fmla="*/ 917620 w 951487"/>
              <a:gd name="connsiteY2-6" fmla="*/ 737567 h 737567"/>
              <a:gd name="connsiteX3-7" fmla="*/ 0 w 951487"/>
              <a:gd name="connsiteY3-8" fmla="*/ 737567 h 737567"/>
              <a:gd name="connsiteX4-9" fmla="*/ 0 w 951487"/>
              <a:gd name="connsiteY4-10" fmla="*/ 457200 h 737567"/>
              <a:gd name="connsiteX0-11" fmla="*/ 0 w 951487"/>
              <a:gd name="connsiteY0-12" fmla="*/ 457200 h 737567"/>
              <a:gd name="connsiteX1-13" fmla="*/ 951487 w 951487"/>
              <a:gd name="connsiteY1-14" fmla="*/ 0 h 737567"/>
              <a:gd name="connsiteX2-15" fmla="*/ 951486 w 951487"/>
              <a:gd name="connsiteY2-16" fmla="*/ 441234 h 737567"/>
              <a:gd name="connsiteX3-17" fmla="*/ 0 w 951487"/>
              <a:gd name="connsiteY3-18" fmla="*/ 737567 h 737567"/>
              <a:gd name="connsiteX4-19" fmla="*/ 0 w 951487"/>
              <a:gd name="connsiteY4-20" fmla="*/ 457200 h 737567"/>
              <a:gd name="connsiteX0-21" fmla="*/ 0 w 976887"/>
              <a:gd name="connsiteY0-22" fmla="*/ 685800 h 966167"/>
              <a:gd name="connsiteX1-23" fmla="*/ 976887 w 976887"/>
              <a:gd name="connsiteY1-24" fmla="*/ 0 h 966167"/>
              <a:gd name="connsiteX2-25" fmla="*/ 951486 w 976887"/>
              <a:gd name="connsiteY2-26" fmla="*/ 669834 h 966167"/>
              <a:gd name="connsiteX3-27" fmla="*/ 0 w 976887"/>
              <a:gd name="connsiteY3-28" fmla="*/ 966167 h 966167"/>
              <a:gd name="connsiteX4-29" fmla="*/ 0 w 976887"/>
              <a:gd name="connsiteY4-30" fmla="*/ 685800 h 966167"/>
              <a:gd name="connsiteX0-31" fmla="*/ 0 w 976887"/>
              <a:gd name="connsiteY0-32" fmla="*/ 685800 h 966167"/>
              <a:gd name="connsiteX1-33" fmla="*/ 976887 w 976887"/>
              <a:gd name="connsiteY1-34" fmla="*/ 0 h 966167"/>
              <a:gd name="connsiteX2-35" fmla="*/ 968419 w 976887"/>
              <a:gd name="connsiteY2-36" fmla="*/ 534367 h 966167"/>
              <a:gd name="connsiteX3-37" fmla="*/ 0 w 976887"/>
              <a:gd name="connsiteY3-38" fmla="*/ 966167 h 966167"/>
              <a:gd name="connsiteX4-39" fmla="*/ 0 w 976887"/>
              <a:gd name="connsiteY4-40" fmla="*/ 685800 h 966167"/>
              <a:gd name="connsiteX0-41" fmla="*/ 0 w 1070021"/>
              <a:gd name="connsiteY0-42" fmla="*/ 508000 h 788367"/>
              <a:gd name="connsiteX1-43" fmla="*/ 1070021 w 1070021"/>
              <a:gd name="connsiteY1-44" fmla="*/ 0 h 788367"/>
              <a:gd name="connsiteX2-45" fmla="*/ 968419 w 1070021"/>
              <a:gd name="connsiteY2-46" fmla="*/ 356567 h 788367"/>
              <a:gd name="connsiteX3-47" fmla="*/ 0 w 1070021"/>
              <a:gd name="connsiteY3-48" fmla="*/ 788367 h 788367"/>
              <a:gd name="connsiteX4-49" fmla="*/ 0 w 1070021"/>
              <a:gd name="connsiteY4-50" fmla="*/ 508000 h 788367"/>
              <a:gd name="connsiteX0-51" fmla="*/ 0 w 1078486"/>
              <a:gd name="connsiteY0-52" fmla="*/ 508000 h 788367"/>
              <a:gd name="connsiteX1-53" fmla="*/ 1070021 w 1078486"/>
              <a:gd name="connsiteY1-54" fmla="*/ 0 h 788367"/>
              <a:gd name="connsiteX2-55" fmla="*/ 1078486 w 1078486"/>
              <a:gd name="connsiteY2-56" fmla="*/ 559767 h 788367"/>
              <a:gd name="connsiteX3-57" fmla="*/ 0 w 1078486"/>
              <a:gd name="connsiteY3-58" fmla="*/ 788367 h 788367"/>
              <a:gd name="connsiteX4-59" fmla="*/ 0 w 1078486"/>
              <a:gd name="connsiteY4-60" fmla="*/ 508000 h 7883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8486" h="788367">
                <a:moveTo>
                  <a:pt x="0" y="508000"/>
                </a:moveTo>
                <a:lnTo>
                  <a:pt x="1070021" y="0"/>
                </a:lnTo>
                <a:cubicBezTo>
                  <a:pt x="1070021" y="147078"/>
                  <a:pt x="1078486" y="412689"/>
                  <a:pt x="1078486" y="559767"/>
                </a:cubicBezTo>
                <a:lnTo>
                  <a:pt x="0" y="788367"/>
                </a:lnTo>
                <a:lnTo>
                  <a:pt x="0" y="50800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5554663" y="1892300"/>
            <a:ext cx="2671762" cy="280988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/>
          </a:p>
        </p:txBody>
      </p:sp>
      <p:sp>
        <p:nvSpPr>
          <p:cNvPr id="11" name="等腰三角形 10"/>
          <p:cNvSpPr/>
          <p:nvPr/>
        </p:nvSpPr>
        <p:spPr bwMode="auto">
          <a:xfrm rot="16200000">
            <a:off x="5113338" y="1841500"/>
            <a:ext cx="555625" cy="396875"/>
          </a:xfrm>
          <a:prstGeom prst="triangl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/>
          </a:p>
        </p:txBody>
      </p:sp>
      <p:sp>
        <p:nvSpPr>
          <p:cNvPr id="14" name="矩形 13"/>
          <p:cNvSpPr/>
          <p:nvPr/>
        </p:nvSpPr>
        <p:spPr bwMode="auto">
          <a:xfrm flipV="1">
            <a:off x="6162675" y="3541713"/>
            <a:ext cx="2063750" cy="2794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/>
          </a:p>
        </p:txBody>
      </p:sp>
      <p:sp>
        <p:nvSpPr>
          <p:cNvPr id="15" name="等腰三角形 14"/>
          <p:cNvSpPr/>
          <p:nvPr/>
        </p:nvSpPr>
        <p:spPr bwMode="auto">
          <a:xfrm rot="5400000" flipV="1">
            <a:off x="5797550" y="3482975"/>
            <a:ext cx="555625" cy="396875"/>
          </a:xfrm>
          <a:prstGeom prst="triangl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/>
          </a:p>
        </p:txBody>
      </p:sp>
      <p:sp>
        <p:nvSpPr>
          <p:cNvPr id="16" name="矩形 6_12"/>
          <p:cNvSpPr/>
          <p:nvPr/>
        </p:nvSpPr>
        <p:spPr bwMode="auto">
          <a:xfrm flipV="1">
            <a:off x="8226425" y="3541713"/>
            <a:ext cx="976313" cy="965200"/>
          </a:xfrm>
          <a:custGeom>
            <a:avLst/>
            <a:gdLst>
              <a:gd name="connsiteX0" fmla="*/ 0 w 917620"/>
              <a:gd name="connsiteY0" fmla="*/ 0 h 280367"/>
              <a:gd name="connsiteX1" fmla="*/ 917620 w 917620"/>
              <a:gd name="connsiteY1" fmla="*/ 0 h 280367"/>
              <a:gd name="connsiteX2" fmla="*/ 917620 w 917620"/>
              <a:gd name="connsiteY2" fmla="*/ 280367 h 280367"/>
              <a:gd name="connsiteX3" fmla="*/ 0 w 917620"/>
              <a:gd name="connsiteY3" fmla="*/ 280367 h 280367"/>
              <a:gd name="connsiteX4" fmla="*/ 0 w 917620"/>
              <a:gd name="connsiteY4" fmla="*/ 0 h 280367"/>
              <a:gd name="connsiteX0-1" fmla="*/ 0 w 951487"/>
              <a:gd name="connsiteY0-2" fmla="*/ 457200 h 737567"/>
              <a:gd name="connsiteX1-3" fmla="*/ 951487 w 951487"/>
              <a:gd name="connsiteY1-4" fmla="*/ 0 h 737567"/>
              <a:gd name="connsiteX2-5" fmla="*/ 917620 w 951487"/>
              <a:gd name="connsiteY2-6" fmla="*/ 737567 h 737567"/>
              <a:gd name="connsiteX3-7" fmla="*/ 0 w 951487"/>
              <a:gd name="connsiteY3-8" fmla="*/ 737567 h 737567"/>
              <a:gd name="connsiteX4-9" fmla="*/ 0 w 951487"/>
              <a:gd name="connsiteY4-10" fmla="*/ 457200 h 737567"/>
              <a:gd name="connsiteX0-11" fmla="*/ 0 w 951487"/>
              <a:gd name="connsiteY0-12" fmla="*/ 457200 h 737567"/>
              <a:gd name="connsiteX1-13" fmla="*/ 951487 w 951487"/>
              <a:gd name="connsiteY1-14" fmla="*/ 0 h 737567"/>
              <a:gd name="connsiteX2-15" fmla="*/ 951486 w 951487"/>
              <a:gd name="connsiteY2-16" fmla="*/ 441234 h 737567"/>
              <a:gd name="connsiteX3-17" fmla="*/ 0 w 951487"/>
              <a:gd name="connsiteY3-18" fmla="*/ 737567 h 737567"/>
              <a:gd name="connsiteX4-19" fmla="*/ 0 w 951487"/>
              <a:gd name="connsiteY4-20" fmla="*/ 457200 h 737567"/>
              <a:gd name="connsiteX0-21" fmla="*/ 0 w 976887"/>
              <a:gd name="connsiteY0-22" fmla="*/ 685800 h 966167"/>
              <a:gd name="connsiteX1-23" fmla="*/ 976887 w 976887"/>
              <a:gd name="connsiteY1-24" fmla="*/ 0 h 966167"/>
              <a:gd name="connsiteX2-25" fmla="*/ 951486 w 976887"/>
              <a:gd name="connsiteY2-26" fmla="*/ 669834 h 966167"/>
              <a:gd name="connsiteX3-27" fmla="*/ 0 w 976887"/>
              <a:gd name="connsiteY3-28" fmla="*/ 966167 h 966167"/>
              <a:gd name="connsiteX4-29" fmla="*/ 0 w 976887"/>
              <a:gd name="connsiteY4-30" fmla="*/ 685800 h 966167"/>
              <a:gd name="connsiteX0-31" fmla="*/ 0 w 976887"/>
              <a:gd name="connsiteY0-32" fmla="*/ 685800 h 966167"/>
              <a:gd name="connsiteX1-33" fmla="*/ 976887 w 976887"/>
              <a:gd name="connsiteY1-34" fmla="*/ 0 h 966167"/>
              <a:gd name="connsiteX2-35" fmla="*/ 968419 w 976887"/>
              <a:gd name="connsiteY2-36" fmla="*/ 534367 h 966167"/>
              <a:gd name="connsiteX3-37" fmla="*/ 0 w 976887"/>
              <a:gd name="connsiteY3-38" fmla="*/ 966167 h 966167"/>
              <a:gd name="connsiteX4-39" fmla="*/ 0 w 976887"/>
              <a:gd name="connsiteY4-40" fmla="*/ 685800 h 966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76887" h="966167">
                <a:moveTo>
                  <a:pt x="0" y="685800"/>
                </a:moveTo>
                <a:lnTo>
                  <a:pt x="976887" y="0"/>
                </a:lnTo>
                <a:cubicBezTo>
                  <a:pt x="976887" y="147078"/>
                  <a:pt x="968419" y="387289"/>
                  <a:pt x="968419" y="534367"/>
                </a:cubicBezTo>
                <a:lnTo>
                  <a:pt x="0" y="966167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/>
          </a:p>
        </p:txBody>
      </p:sp>
      <p:sp>
        <p:nvSpPr>
          <p:cNvPr id="17" name="矩形 6_13"/>
          <p:cNvSpPr/>
          <p:nvPr/>
        </p:nvSpPr>
        <p:spPr bwMode="auto">
          <a:xfrm flipV="1">
            <a:off x="8226425" y="2992438"/>
            <a:ext cx="1077913" cy="788987"/>
          </a:xfrm>
          <a:custGeom>
            <a:avLst/>
            <a:gdLst>
              <a:gd name="connsiteX0" fmla="*/ 0 w 917620"/>
              <a:gd name="connsiteY0" fmla="*/ 0 h 280367"/>
              <a:gd name="connsiteX1" fmla="*/ 917620 w 917620"/>
              <a:gd name="connsiteY1" fmla="*/ 0 h 280367"/>
              <a:gd name="connsiteX2" fmla="*/ 917620 w 917620"/>
              <a:gd name="connsiteY2" fmla="*/ 280367 h 280367"/>
              <a:gd name="connsiteX3" fmla="*/ 0 w 917620"/>
              <a:gd name="connsiteY3" fmla="*/ 280367 h 280367"/>
              <a:gd name="connsiteX4" fmla="*/ 0 w 917620"/>
              <a:gd name="connsiteY4" fmla="*/ 0 h 280367"/>
              <a:gd name="connsiteX0-1" fmla="*/ 0 w 951487"/>
              <a:gd name="connsiteY0-2" fmla="*/ 457200 h 737567"/>
              <a:gd name="connsiteX1-3" fmla="*/ 951487 w 951487"/>
              <a:gd name="connsiteY1-4" fmla="*/ 0 h 737567"/>
              <a:gd name="connsiteX2-5" fmla="*/ 917620 w 951487"/>
              <a:gd name="connsiteY2-6" fmla="*/ 737567 h 737567"/>
              <a:gd name="connsiteX3-7" fmla="*/ 0 w 951487"/>
              <a:gd name="connsiteY3-8" fmla="*/ 737567 h 737567"/>
              <a:gd name="connsiteX4-9" fmla="*/ 0 w 951487"/>
              <a:gd name="connsiteY4-10" fmla="*/ 457200 h 737567"/>
              <a:gd name="connsiteX0-11" fmla="*/ 0 w 951487"/>
              <a:gd name="connsiteY0-12" fmla="*/ 457200 h 737567"/>
              <a:gd name="connsiteX1-13" fmla="*/ 951487 w 951487"/>
              <a:gd name="connsiteY1-14" fmla="*/ 0 h 737567"/>
              <a:gd name="connsiteX2-15" fmla="*/ 951486 w 951487"/>
              <a:gd name="connsiteY2-16" fmla="*/ 441234 h 737567"/>
              <a:gd name="connsiteX3-17" fmla="*/ 0 w 951487"/>
              <a:gd name="connsiteY3-18" fmla="*/ 737567 h 737567"/>
              <a:gd name="connsiteX4-19" fmla="*/ 0 w 951487"/>
              <a:gd name="connsiteY4-20" fmla="*/ 457200 h 737567"/>
              <a:gd name="connsiteX0-21" fmla="*/ 0 w 976887"/>
              <a:gd name="connsiteY0-22" fmla="*/ 685800 h 966167"/>
              <a:gd name="connsiteX1-23" fmla="*/ 976887 w 976887"/>
              <a:gd name="connsiteY1-24" fmla="*/ 0 h 966167"/>
              <a:gd name="connsiteX2-25" fmla="*/ 951486 w 976887"/>
              <a:gd name="connsiteY2-26" fmla="*/ 669834 h 966167"/>
              <a:gd name="connsiteX3-27" fmla="*/ 0 w 976887"/>
              <a:gd name="connsiteY3-28" fmla="*/ 966167 h 966167"/>
              <a:gd name="connsiteX4-29" fmla="*/ 0 w 976887"/>
              <a:gd name="connsiteY4-30" fmla="*/ 685800 h 966167"/>
              <a:gd name="connsiteX0-31" fmla="*/ 0 w 976887"/>
              <a:gd name="connsiteY0-32" fmla="*/ 685800 h 966167"/>
              <a:gd name="connsiteX1-33" fmla="*/ 976887 w 976887"/>
              <a:gd name="connsiteY1-34" fmla="*/ 0 h 966167"/>
              <a:gd name="connsiteX2-35" fmla="*/ 968419 w 976887"/>
              <a:gd name="connsiteY2-36" fmla="*/ 534367 h 966167"/>
              <a:gd name="connsiteX3-37" fmla="*/ 0 w 976887"/>
              <a:gd name="connsiteY3-38" fmla="*/ 966167 h 966167"/>
              <a:gd name="connsiteX4-39" fmla="*/ 0 w 976887"/>
              <a:gd name="connsiteY4-40" fmla="*/ 685800 h 966167"/>
              <a:gd name="connsiteX0-41" fmla="*/ 0 w 1070021"/>
              <a:gd name="connsiteY0-42" fmla="*/ 508000 h 788367"/>
              <a:gd name="connsiteX1-43" fmla="*/ 1070021 w 1070021"/>
              <a:gd name="connsiteY1-44" fmla="*/ 0 h 788367"/>
              <a:gd name="connsiteX2-45" fmla="*/ 968419 w 1070021"/>
              <a:gd name="connsiteY2-46" fmla="*/ 356567 h 788367"/>
              <a:gd name="connsiteX3-47" fmla="*/ 0 w 1070021"/>
              <a:gd name="connsiteY3-48" fmla="*/ 788367 h 788367"/>
              <a:gd name="connsiteX4-49" fmla="*/ 0 w 1070021"/>
              <a:gd name="connsiteY4-50" fmla="*/ 508000 h 788367"/>
              <a:gd name="connsiteX0-51" fmla="*/ 0 w 1078486"/>
              <a:gd name="connsiteY0-52" fmla="*/ 508000 h 788367"/>
              <a:gd name="connsiteX1-53" fmla="*/ 1070021 w 1078486"/>
              <a:gd name="connsiteY1-54" fmla="*/ 0 h 788367"/>
              <a:gd name="connsiteX2-55" fmla="*/ 1078486 w 1078486"/>
              <a:gd name="connsiteY2-56" fmla="*/ 559767 h 788367"/>
              <a:gd name="connsiteX3-57" fmla="*/ 0 w 1078486"/>
              <a:gd name="connsiteY3-58" fmla="*/ 788367 h 788367"/>
              <a:gd name="connsiteX4-59" fmla="*/ 0 w 1078486"/>
              <a:gd name="connsiteY4-60" fmla="*/ 508000 h 7883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8486" h="788367">
                <a:moveTo>
                  <a:pt x="0" y="508000"/>
                </a:moveTo>
                <a:lnTo>
                  <a:pt x="1070021" y="0"/>
                </a:lnTo>
                <a:cubicBezTo>
                  <a:pt x="1070021" y="147078"/>
                  <a:pt x="1078486" y="412689"/>
                  <a:pt x="1078486" y="559767"/>
                </a:cubicBezTo>
                <a:lnTo>
                  <a:pt x="0" y="788367"/>
                </a:lnTo>
                <a:lnTo>
                  <a:pt x="0" y="50800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/>
          </a:p>
        </p:txBody>
      </p:sp>
      <p:sp>
        <p:nvSpPr>
          <p:cNvPr id="18" name="矩形 17"/>
          <p:cNvSpPr/>
          <p:nvPr/>
        </p:nvSpPr>
        <p:spPr bwMode="auto">
          <a:xfrm flipV="1">
            <a:off x="5554663" y="2992438"/>
            <a:ext cx="2671762" cy="28098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/>
          </a:p>
        </p:txBody>
      </p:sp>
      <p:sp>
        <p:nvSpPr>
          <p:cNvPr id="19" name="等腰三角形 18"/>
          <p:cNvSpPr/>
          <p:nvPr/>
        </p:nvSpPr>
        <p:spPr bwMode="auto">
          <a:xfrm rot="5400000" flipV="1">
            <a:off x="5113338" y="2927350"/>
            <a:ext cx="555625" cy="396875"/>
          </a:xfrm>
          <a:prstGeom prst="triangl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/>
          </a:p>
        </p:txBody>
      </p:sp>
      <p:sp>
        <p:nvSpPr>
          <p:cNvPr id="20" name="矩形 19"/>
          <p:cNvSpPr/>
          <p:nvPr/>
        </p:nvSpPr>
        <p:spPr bwMode="auto">
          <a:xfrm>
            <a:off x="4386263" y="2459038"/>
            <a:ext cx="3875087" cy="2809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/>
          </a:p>
        </p:txBody>
      </p:sp>
      <p:sp>
        <p:nvSpPr>
          <p:cNvPr id="21" name="等腰三角形 20"/>
          <p:cNvSpPr/>
          <p:nvPr/>
        </p:nvSpPr>
        <p:spPr bwMode="auto">
          <a:xfrm rot="16200000">
            <a:off x="3960813" y="2405063"/>
            <a:ext cx="555625" cy="396875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1000"/>
          </a:p>
        </p:txBody>
      </p:sp>
      <p:sp>
        <p:nvSpPr>
          <p:cNvPr id="22" name="矩形 6_18"/>
          <p:cNvSpPr/>
          <p:nvPr/>
        </p:nvSpPr>
        <p:spPr bwMode="auto">
          <a:xfrm>
            <a:off x="8261350" y="2230438"/>
            <a:ext cx="1154113" cy="661987"/>
          </a:xfrm>
          <a:custGeom>
            <a:avLst/>
            <a:gdLst>
              <a:gd name="connsiteX0" fmla="*/ 0 w 917620"/>
              <a:gd name="connsiteY0" fmla="*/ 0 h 280367"/>
              <a:gd name="connsiteX1" fmla="*/ 917620 w 917620"/>
              <a:gd name="connsiteY1" fmla="*/ 0 h 280367"/>
              <a:gd name="connsiteX2" fmla="*/ 917620 w 917620"/>
              <a:gd name="connsiteY2" fmla="*/ 280367 h 280367"/>
              <a:gd name="connsiteX3" fmla="*/ 0 w 917620"/>
              <a:gd name="connsiteY3" fmla="*/ 280367 h 280367"/>
              <a:gd name="connsiteX4" fmla="*/ 0 w 917620"/>
              <a:gd name="connsiteY4" fmla="*/ 0 h 280367"/>
              <a:gd name="connsiteX0-1" fmla="*/ 0 w 951487"/>
              <a:gd name="connsiteY0-2" fmla="*/ 457200 h 737567"/>
              <a:gd name="connsiteX1-3" fmla="*/ 951487 w 951487"/>
              <a:gd name="connsiteY1-4" fmla="*/ 0 h 737567"/>
              <a:gd name="connsiteX2-5" fmla="*/ 917620 w 951487"/>
              <a:gd name="connsiteY2-6" fmla="*/ 737567 h 737567"/>
              <a:gd name="connsiteX3-7" fmla="*/ 0 w 951487"/>
              <a:gd name="connsiteY3-8" fmla="*/ 737567 h 737567"/>
              <a:gd name="connsiteX4-9" fmla="*/ 0 w 951487"/>
              <a:gd name="connsiteY4-10" fmla="*/ 457200 h 737567"/>
              <a:gd name="connsiteX0-11" fmla="*/ 0 w 951487"/>
              <a:gd name="connsiteY0-12" fmla="*/ 457200 h 737567"/>
              <a:gd name="connsiteX1-13" fmla="*/ 951487 w 951487"/>
              <a:gd name="connsiteY1-14" fmla="*/ 0 h 737567"/>
              <a:gd name="connsiteX2-15" fmla="*/ 951486 w 951487"/>
              <a:gd name="connsiteY2-16" fmla="*/ 441234 h 737567"/>
              <a:gd name="connsiteX3-17" fmla="*/ 0 w 951487"/>
              <a:gd name="connsiteY3-18" fmla="*/ 737567 h 737567"/>
              <a:gd name="connsiteX4-19" fmla="*/ 0 w 951487"/>
              <a:gd name="connsiteY4-20" fmla="*/ 457200 h 737567"/>
              <a:gd name="connsiteX0-21" fmla="*/ 0 w 976887"/>
              <a:gd name="connsiteY0-22" fmla="*/ 685800 h 966167"/>
              <a:gd name="connsiteX1-23" fmla="*/ 976887 w 976887"/>
              <a:gd name="connsiteY1-24" fmla="*/ 0 h 966167"/>
              <a:gd name="connsiteX2-25" fmla="*/ 951486 w 976887"/>
              <a:gd name="connsiteY2-26" fmla="*/ 669834 h 966167"/>
              <a:gd name="connsiteX3-27" fmla="*/ 0 w 976887"/>
              <a:gd name="connsiteY3-28" fmla="*/ 966167 h 966167"/>
              <a:gd name="connsiteX4-29" fmla="*/ 0 w 976887"/>
              <a:gd name="connsiteY4-30" fmla="*/ 685800 h 966167"/>
              <a:gd name="connsiteX0-31" fmla="*/ 0 w 976887"/>
              <a:gd name="connsiteY0-32" fmla="*/ 685800 h 966167"/>
              <a:gd name="connsiteX1-33" fmla="*/ 976887 w 976887"/>
              <a:gd name="connsiteY1-34" fmla="*/ 0 h 966167"/>
              <a:gd name="connsiteX2-35" fmla="*/ 968419 w 976887"/>
              <a:gd name="connsiteY2-36" fmla="*/ 534367 h 966167"/>
              <a:gd name="connsiteX3-37" fmla="*/ 0 w 976887"/>
              <a:gd name="connsiteY3-38" fmla="*/ 966167 h 966167"/>
              <a:gd name="connsiteX4-39" fmla="*/ 0 w 976887"/>
              <a:gd name="connsiteY4-40" fmla="*/ 685800 h 966167"/>
              <a:gd name="connsiteX0-41" fmla="*/ 0 w 1070021"/>
              <a:gd name="connsiteY0-42" fmla="*/ 508000 h 788367"/>
              <a:gd name="connsiteX1-43" fmla="*/ 1070021 w 1070021"/>
              <a:gd name="connsiteY1-44" fmla="*/ 0 h 788367"/>
              <a:gd name="connsiteX2-45" fmla="*/ 968419 w 1070021"/>
              <a:gd name="connsiteY2-46" fmla="*/ 356567 h 788367"/>
              <a:gd name="connsiteX3-47" fmla="*/ 0 w 1070021"/>
              <a:gd name="connsiteY3-48" fmla="*/ 788367 h 788367"/>
              <a:gd name="connsiteX4-49" fmla="*/ 0 w 1070021"/>
              <a:gd name="connsiteY4-50" fmla="*/ 508000 h 788367"/>
              <a:gd name="connsiteX0-51" fmla="*/ 0 w 1078486"/>
              <a:gd name="connsiteY0-52" fmla="*/ 508000 h 788367"/>
              <a:gd name="connsiteX1-53" fmla="*/ 1070021 w 1078486"/>
              <a:gd name="connsiteY1-54" fmla="*/ 0 h 788367"/>
              <a:gd name="connsiteX2-55" fmla="*/ 1078486 w 1078486"/>
              <a:gd name="connsiteY2-56" fmla="*/ 559767 h 788367"/>
              <a:gd name="connsiteX3-57" fmla="*/ 0 w 1078486"/>
              <a:gd name="connsiteY3-58" fmla="*/ 788367 h 788367"/>
              <a:gd name="connsiteX4-59" fmla="*/ 0 w 1078486"/>
              <a:gd name="connsiteY4-60" fmla="*/ 508000 h 788367"/>
              <a:gd name="connsiteX0-61" fmla="*/ 0 w 1146221"/>
              <a:gd name="connsiteY0-62" fmla="*/ 381000 h 661367"/>
              <a:gd name="connsiteX1-63" fmla="*/ 1146221 w 1146221"/>
              <a:gd name="connsiteY1-64" fmla="*/ 0 h 661367"/>
              <a:gd name="connsiteX2-65" fmla="*/ 1078486 w 1146221"/>
              <a:gd name="connsiteY2-66" fmla="*/ 432767 h 661367"/>
              <a:gd name="connsiteX3-67" fmla="*/ 0 w 1146221"/>
              <a:gd name="connsiteY3-68" fmla="*/ 661367 h 661367"/>
              <a:gd name="connsiteX4-69" fmla="*/ 0 w 1146221"/>
              <a:gd name="connsiteY4-70" fmla="*/ 381000 h 661367"/>
              <a:gd name="connsiteX0-71" fmla="*/ 0 w 1163154"/>
              <a:gd name="connsiteY0-72" fmla="*/ 313267 h 593634"/>
              <a:gd name="connsiteX1-73" fmla="*/ 1163154 w 1163154"/>
              <a:gd name="connsiteY1-74" fmla="*/ 0 h 593634"/>
              <a:gd name="connsiteX2-75" fmla="*/ 1078486 w 1163154"/>
              <a:gd name="connsiteY2-76" fmla="*/ 365034 h 593634"/>
              <a:gd name="connsiteX3-77" fmla="*/ 0 w 1163154"/>
              <a:gd name="connsiteY3-78" fmla="*/ 593634 h 593634"/>
              <a:gd name="connsiteX4-79" fmla="*/ 0 w 1163154"/>
              <a:gd name="connsiteY4-80" fmla="*/ 313267 h 593634"/>
              <a:gd name="connsiteX0-81" fmla="*/ 0 w 1163154"/>
              <a:gd name="connsiteY0-82" fmla="*/ 254000 h 534367"/>
              <a:gd name="connsiteX1-83" fmla="*/ 1163154 w 1163154"/>
              <a:gd name="connsiteY1-84" fmla="*/ 0 h 534367"/>
              <a:gd name="connsiteX2-85" fmla="*/ 1078486 w 1163154"/>
              <a:gd name="connsiteY2-86" fmla="*/ 305767 h 534367"/>
              <a:gd name="connsiteX3-87" fmla="*/ 0 w 1163154"/>
              <a:gd name="connsiteY3-88" fmla="*/ 534367 h 534367"/>
              <a:gd name="connsiteX4-89" fmla="*/ 0 w 1163154"/>
              <a:gd name="connsiteY4-90" fmla="*/ 254000 h 534367"/>
              <a:gd name="connsiteX0-91" fmla="*/ 0 w 1163154"/>
              <a:gd name="connsiteY0-92" fmla="*/ 254000 h 686767"/>
              <a:gd name="connsiteX1-93" fmla="*/ 1163154 w 1163154"/>
              <a:gd name="connsiteY1-94" fmla="*/ 0 h 686767"/>
              <a:gd name="connsiteX2-95" fmla="*/ 1154686 w 1163154"/>
              <a:gd name="connsiteY2-96" fmla="*/ 686767 h 686767"/>
              <a:gd name="connsiteX3-97" fmla="*/ 0 w 1163154"/>
              <a:gd name="connsiteY3-98" fmla="*/ 534367 h 686767"/>
              <a:gd name="connsiteX4-99" fmla="*/ 0 w 1163154"/>
              <a:gd name="connsiteY4-100" fmla="*/ 254000 h 686767"/>
              <a:gd name="connsiteX0-101" fmla="*/ 0 w 1154686"/>
              <a:gd name="connsiteY0-102" fmla="*/ 228600 h 661367"/>
              <a:gd name="connsiteX1-103" fmla="*/ 1146220 w 1154686"/>
              <a:gd name="connsiteY1-104" fmla="*/ 0 h 661367"/>
              <a:gd name="connsiteX2-105" fmla="*/ 1154686 w 1154686"/>
              <a:gd name="connsiteY2-106" fmla="*/ 661367 h 661367"/>
              <a:gd name="connsiteX3-107" fmla="*/ 0 w 1154686"/>
              <a:gd name="connsiteY3-108" fmla="*/ 508967 h 661367"/>
              <a:gd name="connsiteX4-109" fmla="*/ 0 w 1154686"/>
              <a:gd name="connsiteY4-110" fmla="*/ 228600 h 6613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54686" h="661367">
                <a:moveTo>
                  <a:pt x="0" y="228600"/>
                </a:moveTo>
                <a:lnTo>
                  <a:pt x="1146220" y="0"/>
                </a:lnTo>
                <a:cubicBezTo>
                  <a:pt x="1146220" y="147078"/>
                  <a:pt x="1154686" y="514289"/>
                  <a:pt x="1154686" y="661367"/>
                </a:cubicBezTo>
                <a:lnTo>
                  <a:pt x="0" y="508967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/>
          </a:p>
        </p:txBody>
      </p:sp>
      <p:cxnSp>
        <p:nvCxnSpPr>
          <p:cNvPr id="29" name="直线连接符 28"/>
          <p:cNvCxnSpPr/>
          <p:nvPr/>
        </p:nvCxnSpPr>
        <p:spPr>
          <a:xfrm flipH="1">
            <a:off x="4310063" y="1473200"/>
            <a:ext cx="1473200" cy="0"/>
          </a:xfrm>
          <a:prstGeom prst="line">
            <a:avLst/>
          </a:prstGeom>
          <a:ln w="19050" cmpd="sng">
            <a:solidFill>
              <a:schemeClr val="accent5">
                <a:lumMod val="75000"/>
              </a:schemeClr>
            </a:solidFill>
            <a:prstDash val="dot"/>
            <a:headEnd type="oval"/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22" name="文本框 8"/>
          <p:cNvSpPr txBox="1">
            <a:spLocks noChangeArrowheads="1"/>
          </p:cNvSpPr>
          <p:nvPr/>
        </p:nvSpPr>
        <p:spPr bwMode="auto">
          <a:xfrm>
            <a:off x="722630" y="1266825"/>
            <a:ext cx="3486150" cy="4914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 defTabSz="914400">
              <a:lnSpc>
                <a:spcPct val="130000"/>
              </a:lnSpc>
            </a:pPr>
            <a:r>
              <a:rPr lang="zh-CN" altLang="en-US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后端：采用 </a:t>
            </a:r>
            <a:r>
              <a:rPr lang="en-US" altLang="zh-CN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FastAPI + SQLAlchemy async + Pydantic v2，</a:t>
            </a:r>
            <a:r>
              <a:rPr lang="zh-CN" altLang="en-US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因为其异步生态完美契合税务数据的批量写入需求。</a:t>
            </a:r>
            <a:endParaRPr lang="en-US" altLang="zh-CN" sz="1000">
              <a:solidFill>
                <a:srgbClr val="4A4A4A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45" name="直线连接符 44"/>
          <p:cNvCxnSpPr/>
          <p:nvPr/>
        </p:nvCxnSpPr>
        <p:spPr>
          <a:xfrm flipH="1">
            <a:off x="3606800" y="2038350"/>
            <a:ext cx="1473200" cy="0"/>
          </a:xfrm>
          <a:prstGeom prst="line">
            <a:avLst/>
          </a:prstGeom>
          <a:ln w="19050" cmpd="sng">
            <a:solidFill>
              <a:schemeClr val="accent5">
                <a:lumMod val="75000"/>
              </a:schemeClr>
            </a:solidFill>
            <a:prstDash val="dot"/>
            <a:headEnd type="oval"/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24" name="文本框 8"/>
          <p:cNvSpPr txBox="1">
            <a:spLocks noChangeArrowheads="1"/>
          </p:cNvSpPr>
          <p:nvPr/>
        </p:nvSpPr>
        <p:spPr bwMode="auto">
          <a:xfrm>
            <a:off x="67310" y="1831975"/>
            <a:ext cx="3437890" cy="4914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 defTabSz="914400">
              <a:lnSpc>
                <a:spcPct val="130000"/>
              </a:lnSpc>
            </a:pPr>
            <a:r>
              <a:rPr lang="zh-CN" altLang="en-US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数据库：选用 </a:t>
            </a:r>
            <a:r>
              <a:rPr lang="en-US" altLang="zh-CN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PostgreSQL 15，</a:t>
            </a:r>
            <a:r>
              <a:rPr lang="zh-CN" altLang="en-US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因为其原生 </a:t>
            </a:r>
            <a:r>
              <a:rPr lang="en-US" altLang="zh-CN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JSONB </a:t>
            </a:r>
            <a:r>
              <a:rPr lang="zh-CN" altLang="en-US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类型能高效承载 </a:t>
            </a:r>
            <a:r>
              <a:rPr lang="en-US" altLang="zh-CN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产生的异常标记数据。。</a:t>
            </a:r>
            <a:endParaRPr lang="en-US" altLang="zh-CN" sz="1000">
              <a:solidFill>
                <a:srgbClr val="4A4A4A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50" name="直线连接符 49"/>
          <p:cNvCxnSpPr/>
          <p:nvPr/>
        </p:nvCxnSpPr>
        <p:spPr>
          <a:xfrm flipH="1">
            <a:off x="3130550" y="2606675"/>
            <a:ext cx="796925" cy="0"/>
          </a:xfrm>
          <a:prstGeom prst="line">
            <a:avLst/>
          </a:prstGeom>
          <a:ln w="19050" cmpd="sng">
            <a:solidFill>
              <a:schemeClr val="accent5">
                <a:lumMod val="75000"/>
              </a:schemeClr>
            </a:solidFill>
            <a:prstDash val="dot"/>
            <a:headEnd type="oval"/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26" name="文本框 8"/>
          <p:cNvSpPr txBox="1">
            <a:spLocks noChangeArrowheads="1"/>
          </p:cNvSpPr>
          <p:nvPr/>
        </p:nvSpPr>
        <p:spPr bwMode="auto">
          <a:xfrm>
            <a:off x="71755" y="2400300"/>
            <a:ext cx="3058795" cy="4914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 defTabSz="914400">
              <a:lnSpc>
                <a:spcPct val="130000"/>
              </a:lnSpc>
            </a:pPr>
            <a:r>
              <a:rPr lang="zh-CN" altLang="en-US" sz="1000">
                <a:solidFill>
                  <a:schemeClr val="accent1"/>
                </a:solidFill>
                <a:latin typeface="Century Gothic" panose="020B0502020202020204"/>
                <a:ea typeface="微软雅黑" panose="020B0503020204020204" pitchFamily="34" charset="-122"/>
                <a:sym typeface="+mn-ea"/>
              </a:rPr>
              <a:t>部署：使用 </a:t>
            </a:r>
            <a:r>
              <a:rPr lang="en-US" altLang="zh-CN" sz="1000">
                <a:solidFill>
                  <a:schemeClr val="accent1"/>
                </a:solidFill>
                <a:latin typeface="Century Gothic" panose="020B0502020202020204"/>
                <a:ea typeface="微软雅黑" panose="020B0503020204020204" pitchFamily="34" charset="-122"/>
                <a:sym typeface="+mn-ea"/>
              </a:rPr>
              <a:t>Docker Compose + start.sh + start.bat，</a:t>
            </a:r>
            <a:r>
              <a:rPr lang="zh-CN" altLang="en-US" sz="1000">
                <a:solidFill>
                  <a:schemeClr val="accent1"/>
                </a:solidFill>
                <a:latin typeface="Century Gothic" panose="020B0502020202020204"/>
                <a:ea typeface="微软雅黑" panose="020B0503020204020204" pitchFamily="34" charset="-122"/>
                <a:sym typeface="+mn-ea"/>
              </a:rPr>
              <a:t>因为能实现跨平台的一键快速启动。</a:t>
            </a:r>
            <a:endParaRPr lang="zh-CN" altLang="en-US" sz="1000">
              <a:solidFill>
                <a:schemeClr val="accent1"/>
              </a:solidFill>
              <a:latin typeface="Century Gothic" panose="020B0502020202020204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5" name="直线连接符 54"/>
          <p:cNvCxnSpPr/>
          <p:nvPr/>
        </p:nvCxnSpPr>
        <p:spPr>
          <a:xfrm flipH="1">
            <a:off x="3606800" y="3127375"/>
            <a:ext cx="1473200" cy="0"/>
          </a:xfrm>
          <a:prstGeom prst="line">
            <a:avLst/>
          </a:prstGeom>
          <a:ln w="19050" cmpd="sng">
            <a:solidFill>
              <a:schemeClr val="accent5">
                <a:lumMod val="75000"/>
              </a:schemeClr>
            </a:solidFill>
            <a:prstDash val="dot"/>
            <a:headEnd type="oval"/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28" name="文本框 8"/>
          <p:cNvSpPr txBox="1">
            <a:spLocks noChangeArrowheads="1"/>
          </p:cNvSpPr>
          <p:nvPr/>
        </p:nvSpPr>
        <p:spPr bwMode="auto">
          <a:xfrm>
            <a:off x="419100" y="2921000"/>
            <a:ext cx="3086100" cy="4914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 defTabSz="914400">
              <a:lnSpc>
                <a:spcPct val="130000"/>
              </a:lnSpc>
            </a:pPr>
            <a:r>
              <a:rPr lang="zh-CN" altLang="en-US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前端：采用 </a:t>
            </a:r>
            <a:r>
              <a:rPr lang="en-US" altLang="zh-CN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React 18 + Vite + Tailwind + Axios，</a:t>
            </a:r>
            <a:r>
              <a:rPr lang="zh-CN" altLang="en-US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因为其具备类型安全特性并能实现极速冷启动。。</a:t>
            </a:r>
            <a:endParaRPr lang="en-US" altLang="zh-CN" sz="1000">
              <a:solidFill>
                <a:srgbClr val="4A4A4A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60" name="直线连接符 59"/>
          <p:cNvCxnSpPr/>
          <p:nvPr/>
        </p:nvCxnSpPr>
        <p:spPr>
          <a:xfrm flipH="1">
            <a:off x="4310063" y="3683000"/>
            <a:ext cx="1473200" cy="0"/>
          </a:xfrm>
          <a:prstGeom prst="line">
            <a:avLst/>
          </a:prstGeom>
          <a:ln w="19050" cmpd="sng">
            <a:solidFill>
              <a:schemeClr val="accent5">
                <a:lumMod val="75000"/>
              </a:schemeClr>
            </a:solidFill>
            <a:prstDash val="dot"/>
            <a:headEnd type="oval"/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30" name="文本框 8"/>
          <p:cNvSpPr txBox="1">
            <a:spLocks noChangeArrowheads="1"/>
          </p:cNvSpPr>
          <p:nvPr/>
        </p:nvSpPr>
        <p:spPr bwMode="auto">
          <a:xfrm>
            <a:off x="685800" y="3476625"/>
            <a:ext cx="3522980" cy="4914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 defTabSz="914400">
              <a:lnSpc>
                <a:spcPct val="130000"/>
              </a:lnSpc>
            </a:pPr>
            <a:r>
              <a:rPr lang="zh-CN" altLang="en-US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测试：采用 </a:t>
            </a:r>
            <a:r>
              <a:rPr lang="en-US" altLang="zh-CN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pytest（</a:t>
            </a:r>
            <a:r>
              <a:rPr lang="zh-CN" altLang="en-US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后端 53 个）+ </a:t>
            </a:r>
            <a:r>
              <a:rPr lang="en-US" altLang="zh-CN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Vitest（</a:t>
            </a:r>
            <a:r>
              <a:rPr lang="zh-CN" altLang="en-US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前端 8 个），因为实现了对核心引擎、实体越权及 </a:t>
            </a:r>
            <a:r>
              <a:rPr lang="en-US" altLang="zh-CN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AI Mock </a:t>
            </a:r>
            <a:r>
              <a:rPr lang="zh-CN" altLang="en-US" sz="1000">
                <a:solidFill>
                  <a:srgbClr val="4A4A4A"/>
                </a:solidFill>
                <a:latin typeface="Century Gothic" panose="020B0502020202020204"/>
                <a:ea typeface="微软雅黑" panose="020B0503020204020204" pitchFamily="34" charset="-122"/>
              </a:rPr>
              <a:t>的全覆盖。</a:t>
            </a:r>
            <a:endParaRPr lang="zh-CN" altLang="en-US" sz="1000">
              <a:solidFill>
                <a:srgbClr val="4A4A4A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5505" y="30163"/>
            <a:ext cx="3865880" cy="8521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400" b="1" dirty="0">
                <a:solidFill>
                  <a:schemeClr val="bg1"/>
                </a:solidFill>
                <a:latin typeface="+mn-lt"/>
                <a:ea typeface="+mn-ea"/>
              </a:rPr>
              <a:t>MORE THAN TEMPLATE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5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Coding </a:t>
            </a:r>
            <a:r>
              <a:rPr kumimoji="1" lang="zh-CN" altLang="en-US" sz="15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智能体深度参与开发全流程</a:t>
            </a:r>
            <a:endParaRPr kumimoji="1" lang="zh-CN" altLang="en-US" sz="15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15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9888" y="219075"/>
            <a:ext cx="495300" cy="474663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800" b="1" dirty="0"/>
              <a:t>LOGO</a:t>
            </a:r>
            <a:endParaRPr kumimoji="1" lang="zh-CN" altLang="en-US" sz="800" b="1" dirty="0"/>
          </a:p>
        </p:txBody>
      </p:sp>
      <p:sp>
        <p:nvSpPr>
          <p:cNvPr id="17412" name="文本框 3"/>
          <p:cNvSpPr txBox="1">
            <a:spLocks noChangeArrowheads="1"/>
          </p:cNvSpPr>
          <p:nvPr/>
        </p:nvSpPr>
        <p:spPr bwMode="auto">
          <a:xfrm>
            <a:off x="3589338" y="4737100"/>
            <a:ext cx="1965325" cy="220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kumimoji="1" lang="en-US" altLang="zh-CN" sz="1000">
                <a:solidFill>
                  <a:schemeClr val="bg1"/>
                </a:solidFill>
                <a:latin typeface="Century Gothic" panose="020B0502020202020204"/>
                <a:ea typeface="微软雅黑" panose="020B0503020204020204" pitchFamily="34" charset="-122"/>
              </a:rPr>
              <a:t>LOGO</a:t>
            </a:r>
            <a:r>
              <a:rPr kumimoji="1" lang="zh-CN" altLang="en-US" sz="1000">
                <a:solidFill>
                  <a:schemeClr val="bg1"/>
                </a:solidFill>
                <a:latin typeface="Century Gothic" panose="020B0502020202020204"/>
                <a:ea typeface="微软雅黑" panose="020B0503020204020204" pitchFamily="34" charset="-122"/>
              </a:rPr>
              <a:t> </a:t>
            </a:r>
            <a:r>
              <a:rPr kumimoji="1" lang="en-US" altLang="zh-CN" sz="1000">
                <a:solidFill>
                  <a:schemeClr val="bg1"/>
                </a:solidFill>
                <a:latin typeface="Century Gothic" panose="020B0502020202020204"/>
                <a:ea typeface="微软雅黑" panose="020B0503020204020204" pitchFamily="34" charset="-122"/>
              </a:rPr>
              <a:t>|</a:t>
            </a:r>
            <a:r>
              <a:rPr kumimoji="1" lang="zh-CN" altLang="en-US" sz="1000">
                <a:solidFill>
                  <a:schemeClr val="bg1"/>
                </a:solidFill>
                <a:latin typeface="Century Gothic" panose="020B0502020202020204"/>
                <a:ea typeface="微软雅黑" panose="020B0503020204020204" pitchFamily="34" charset="-122"/>
              </a:rPr>
              <a:t> </a:t>
            </a:r>
            <a:r>
              <a:rPr kumimoji="1" lang="en-US" altLang="zh-CN" sz="1000">
                <a:solidFill>
                  <a:schemeClr val="bg1"/>
                </a:solidFill>
                <a:latin typeface="Century Gothic" panose="020B0502020202020204"/>
                <a:ea typeface="微软雅黑" panose="020B0503020204020204" pitchFamily="34" charset="-122"/>
              </a:rPr>
              <a:t>COMPANY</a:t>
            </a:r>
            <a:endParaRPr kumimoji="1" lang="zh-CN" altLang="en-US" sz="1000">
              <a:solidFill>
                <a:schemeClr val="bg1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5" name="空心弧 4"/>
          <p:cNvSpPr/>
          <p:nvPr/>
        </p:nvSpPr>
        <p:spPr>
          <a:xfrm rot="5400000">
            <a:off x="-1050924" y="1389062"/>
            <a:ext cx="2087562" cy="2087563"/>
          </a:xfrm>
          <a:prstGeom prst="blockArc">
            <a:avLst>
              <a:gd name="adj1" fmla="val 10800000"/>
              <a:gd name="adj2" fmla="val 17083442"/>
              <a:gd name="adj3" fmla="val 14249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空心弧 5"/>
          <p:cNvSpPr/>
          <p:nvPr>
            <p:custDataLst>
              <p:tags r:id="rId1"/>
            </p:custDataLst>
          </p:nvPr>
        </p:nvSpPr>
        <p:spPr>
          <a:xfrm rot="15963020">
            <a:off x="690563" y="1817688"/>
            <a:ext cx="2085975" cy="2085975"/>
          </a:xfrm>
          <a:prstGeom prst="blockArc">
            <a:avLst>
              <a:gd name="adj1" fmla="val 4398895"/>
              <a:gd name="adj2" fmla="val 17249776"/>
              <a:gd name="adj3" fmla="val 1443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" name="空心弧 6"/>
          <p:cNvSpPr/>
          <p:nvPr>
            <p:custDataLst>
              <p:tags r:id="rId2"/>
            </p:custDataLst>
          </p:nvPr>
        </p:nvSpPr>
        <p:spPr>
          <a:xfrm rot="5636980" flipV="1">
            <a:off x="2398713" y="1320800"/>
            <a:ext cx="2085975" cy="2085975"/>
          </a:xfrm>
          <a:prstGeom prst="blockArc">
            <a:avLst>
              <a:gd name="adj1" fmla="val 4398895"/>
              <a:gd name="adj2" fmla="val 17249776"/>
              <a:gd name="adj3" fmla="val 14439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8" name="空心弧 7"/>
          <p:cNvSpPr/>
          <p:nvPr>
            <p:custDataLst>
              <p:tags r:id="rId3"/>
            </p:custDataLst>
          </p:nvPr>
        </p:nvSpPr>
        <p:spPr>
          <a:xfrm rot="5636980" flipH="1">
            <a:off x="4064794" y="1943894"/>
            <a:ext cx="2087563" cy="2085975"/>
          </a:xfrm>
          <a:prstGeom prst="blockArc">
            <a:avLst>
              <a:gd name="adj1" fmla="val 4398895"/>
              <a:gd name="adj2" fmla="val 17249776"/>
              <a:gd name="adj3" fmla="val 1443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9" name="空心弧 8"/>
          <p:cNvSpPr/>
          <p:nvPr>
            <p:custDataLst>
              <p:tags r:id="rId4"/>
            </p:custDataLst>
          </p:nvPr>
        </p:nvSpPr>
        <p:spPr>
          <a:xfrm rot="5636980" flipV="1">
            <a:off x="5803106" y="1540670"/>
            <a:ext cx="2085975" cy="2087562"/>
          </a:xfrm>
          <a:prstGeom prst="blockArc">
            <a:avLst>
              <a:gd name="adj1" fmla="val 4398895"/>
              <a:gd name="adj2" fmla="val 17249776"/>
              <a:gd name="adj3" fmla="val 14439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空心弧 9"/>
          <p:cNvSpPr/>
          <p:nvPr/>
        </p:nvSpPr>
        <p:spPr>
          <a:xfrm rot="5636980" flipH="1">
            <a:off x="7474745" y="2164556"/>
            <a:ext cx="2087562" cy="2085975"/>
          </a:xfrm>
          <a:prstGeom prst="blockArc">
            <a:avLst>
              <a:gd name="adj1" fmla="val 4398895"/>
              <a:gd name="adj2" fmla="val 17249776"/>
              <a:gd name="adj3" fmla="val 1443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1266825" y="3259138"/>
            <a:ext cx="876300" cy="87471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5400" b="1" dirty="0">
              <a:solidFill>
                <a:srgbClr val="222732"/>
              </a:solidFill>
            </a:endParaRPr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3065463" y="1111250"/>
            <a:ext cx="874712" cy="8763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5400" b="1" dirty="0"/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4595813" y="3371850"/>
            <a:ext cx="876300" cy="8763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5400" b="1" dirty="0">
              <a:solidFill>
                <a:srgbClr val="222732"/>
              </a:solidFill>
            </a:endParaRPr>
          </a:p>
        </p:txBody>
      </p:sp>
      <p:sp>
        <p:nvSpPr>
          <p:cNvPr id="14" name="椭圆 13"/>
          <p:cNvSpPr/>
          <p:nvPr>
            <p:custDataLst>
              <p:tags r:id="rId8"/>
            </p:custDataLst>
          </p:nvPr>
        </p:nvSpPr>
        <p:spPr>
          <a:xfrm>
            <a:off x="6451600" y="1238250"/>
            <a:ext cx="874713" cy="8763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5400" b="1" dirty="0"/>
          </a:p>
        </p:txBody>
      </p:sp>
      <p:sp>
        <p:nvSpPr>
          <p:cNvPr id="17423" name="矩形 14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976880" y="2129155"/>
            <a:ext cx="1212215" cy="11988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/>
            <a:r>
              <a:rPr lang="zh-CN" altLang="en-US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架构设计和编码</a:t>
            </a:r>
            <a:r>
              <a:rPr lang="zh-CN" altLang="en-US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实现</a:t>
            </a:r>
            <a:endParaRPr lang="zh-CN" altLang="en-US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  <a:p>
            <a:endParaRPr lang="zh-CN" altLang="en-US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17424" name="矩形 15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66825" y="2747963"/>
            <a:ext cx="109728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kumimoji="1" lang="zh-CN" altLang="en-US" b="1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需求分析</a:t>
            </a:r>
            <a:endParaRPr lang="zh-CN" altLang="en-US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17425" name="矩形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554538" y="2747963"/>
            <a:ext cx="1097280" cy="506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defRPr sz="900" b="1" i="0" strike="noStrike">
                <a:solidFill>
                  <a:srgbClr val="2B4C7E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lang="zh-CN" altLang="en-US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  <a:sym typeface="+mn-ea"/>
              </a:rPr>
              <a:t>测试覆盖</a:t>
            </a:r>
            <a:endParaRPr lang="zh-CN" altLang="en-US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  <a:p>
            <a:pPr algn="l">
              <a:defRPr sz="900" b="1" i="0" strike="noStrike">
                <a:solidFill>
                  <a:srgbClr val="2B4C7E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endParaRPr lang="zh-CN" altLang="en-US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17426" name="矩形 1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307138" y="2312988"/>
            <a:ext cx="109728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zh-CN" altLang="en-US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  <a:sym typeface="+mn-ea"/>
              </a:rPr>
              <a:t>文档交付</a:t>
            </a:r>
            <a:endParaRPr lang="zh-CN" altLang="en-US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17427" name="矩形 18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143000" y="1357313"/>
            <a:ext cx="1143000" cy="1091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把税务规则（三项测试）翻译成系统需求与技术红线</a:t>
            </a:r>
            <a:endParaRPr lang="zh-CN" altLang="en-US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17428" name="矩形 23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867025" y="3314700"/>
            <a:ext cx="1149350" cy="16916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设计「确定性引擎 + </a:t>
            </a:r>
            <a:r>
              <a:rPr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增强层」物理隔离架构</a:t>
            </a:r>
            <a:endParaRPr lang="zh-CN" altLang="en-US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后端 </a:t>
            </a:r>
            <a:r>
              <a:rPr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FastAPI、</a:t>
            </a:r>
            <a:r>
              <a:rPr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前端 </a:t>
            </a:r>
            <a:r>
              <a:rPr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React 18、</a:t>
            </a:r>
            <a:r>
              <a:rPr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数据库迁移（</a:t>
            </a:r>
            <a:r>
              <a:rPr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Alembic）</a:t>
            </a:r>
            <a:endParaRPr lang="en-US" altLang="zh-CN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17429" name="矩形 24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554538" y="1350963"/>
            <a:ext cx="1179512" cy="1091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pytest 53 </a:t>
            </a:r>
            <a:r>
              <a:rPr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项 + </a:t>
            </a:r>
            <a:r>
              <a:rPr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Vitest 8 </a:t>
            </a:r>
            <a:r>
              <a:rPr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项，覆盖边界值与越权场景</a:t>
            </a:r>
            <a:endParaRPr lang="zh-CN" altLang="en-US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。</a:t>
            </a:r>
            <a:endParaRPr lang="zh-CN" altLang="en-US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17430" name="矩形 26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283325" y="2671763"/>
            <a:ext cx="1068388" cy="6915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方案文档、部署文档、本演示文稿</a:t>
            </a:r>
            <a:endParaRPr lang="zh-CN" altLang="en-US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17"/>
            </p:custDataLst>
          </p:nvPr>
        </p:nvSpPr>
        <p:spPr>
          <a:xfrm>
            <a:off x="1427163" y="3276600"/>
            <a:ext cx="573087" cy="8540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5400" b="1" dirty="0">
                <a:solidFill>
                  <a:schemeClr val="accent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1</a:t>
            </a:r>
            <a:endParaRPr kumimoji="1" lang="zh-CN" altLang="en-US" sz="5400" b="1" dirty="0">
              <a:solidFill>
                <a:schemeClr val="accent2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28" name="矩形 27"/>
          <p:cNvSpPr/>
          <p:nvPr>
            <p:custDataLst>
              <p:tags r:id="rId18"/>
            </p:custDataLst>
          </p:nvPr>
        </p:nvSpPr>
        <p:spPr>
          <a:xfrm>
            <a:off x="4759325" y="3382963"/>
            <a:ext cx="573088" cy="8540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5400" b="1" dirty="0">
                <a:solidFill>
                  <a:schemeClr val="accent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3</a:t>
            </a:r>
            <a:endParaRPr kumimoji="1" lang="zh-CN" altLang="en-US" sz="5400" b="1" dirty="0">
              <a:solidFill>
                <a:schemeClr val="accent2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31" name="矩形 30"/>
          <p:cNvSpPr/>
          <p:nvPr>
            <p:custDataLst>
              <p:tags r:id="rId19"/>
            </p:custDataLst>
          </p:nvPr>
        </p:nvSpPr>
        <p:spPr>
          <a:xfrm>
            <a:off x="3222625" y="1116013"/>
            <a:ext cx="571500" cy="8540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5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2</a:t>
            </a:r>
            <a:endParaRPr kumimoji="1" lang="zh-CN" altLang="en-US" sz="5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32" name="矩形 31"/>
          <p:cNvSpPr/>
          <p:nvPr>
            <p:custDataLst>
              <p:tags r:id="rId20"/>
            </p:custDataLst>
          </p:nvPr>
        </p:nvSpPr>
        <p:spPr>
          <a:xfrm>
            <a:off x="6613525" y="1247775"/>
            <a:ext cx="573088" cy="8540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5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4</a:t>
            </a:r>
            <a:endParaRPr kumimoji="1" lang="zh-CN" altLang="en-US" sz="5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6181725" y="1071563"/>
            <a:ext cx="1284288" cy="1284287"/>
          </a:xfrm>
          <a:prstGeom prst="ellipse">
            <a:avLst/>
          </a:prstGeom>
          <a:solidFill>
            <a:schemeClr val="accent1">
              <a:alpha val="78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9000" dirty="0">
              <a:solidFill>
                <a:srgbClr val="FFFFFF"/>
              </a:solidFill>
            </a:endParaRPr>
          </a:p>
        </p:txBody>
      </p:sp>
      <p:sp>
        <p:nvSpPr>
          <p:cNvPr id="24578" name="文本框 3"/>
          <p:cNvSpPr txBox="1">
            <a:spLocks noChangeArrowheads="1"/>
          </p:cNvSpPr>
          <p:nvPr/>
        </p:nvSpPr>
        <p:spPr bwMode="auto">
          <a:xfrm>
            <a:off x="4504373" y="2513013"/>
            <a:ext cx="457073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PART FOUR </a:t>
            </a:r>
            <a:r>
              <a:rPr kumimoji="1" lang="zh-CN" altLang="en-US" sz="2400" b="1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技术风险和应对方案</a:t>
            </a:r>
            <a:endParaRPr kumimoji="1" lang="zh-CN" altLang="en-US" sz="2400" b="1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24579" name="文本框 4"/>
          <p:cNvSpPr txBox="1">
            <a:spLocks noChangeArrowheads="1"/>
          </p:cNvSpPr>
          <p:nvPr/>
        </p:nvSpPr>
        <p:spPr bwMode="auto">
          <a:xfrm>
            <a:off x="5389563" y="2998788"/>
            <a:ext cx="2927350" cy="291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介绍技术风险和应对，以及未来优化</a:t>
            </a:r>
            <a:r>
              <a:rPr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方向</a:t>
            </a:r>
            <a:endParaRPr lang="zh-CN" altLang="en-US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21438" y="955675"/>
            <a:ext cx="823912" cy="1476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9000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4</a:t>
            </a:r>
            <a:endParaRPr kumimoji="1" lang="zh-CN" altLang="en-US" sz="9000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5505" y="56198"/>
            <a:ext cx="4093845" cy="8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400" b="1" dirty="0">
                <a:solidFill>
                  <a:schemeClr val="bg1"/>
                </a:solidFill>
                <a:latin typeface="+mn-lt"/>
                <a:ea typeface="+mn-ea"/>
              </a:rPr>
              <a:t>MORE THAN TEMPLATE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技术风险与应对：把最坏的情况想在前面</a:t>
            </a:r>
            <a:endParaRPr lang="en-US" sz="140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9888" y="219075"/>
            <a:ext cx="495300" cy="474663"/>
          </a:xfrm>
          <a:prstGeom prst="rect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800" b="1" dirty="0">
                <a:solidFill>
                  <a:srgbClr val="FFFFFF"/>
                </a:solidFill>
              </a:rPr>
              <a:t>LOGO</a:t>
            </a:r>
            <a:endParaRPr kumimoji="1" lang="zh-CN" altLang="en-US" sz="800" b="1" dirty="0">
              <a:solidFill>
                <a:srgbClr val="FFFFFF"/>
              </a:solidFill>
            </a:endParaRPr>
          </a:p>
        </p:txBody>
      </p:sp>
      <p:cxnSp>
        <p:nvCxnSpPr>
          <p:cNvPr id="13" name="Connector 3"/>
          <p:cNvCxnSpPr/>
          <p:nvPr/>
        </p:nvCxnSpPr>
        <p:spPr>
          <a:xfrm rot="-5456">
            <a:off x="571505" y="641350"/>
            <a:ext cx="800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6C6A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Connector 3"/>
          <p:cNvCxnSpPr/>
          <p:nvPr/>
        </p:nvCxnSpPr>
        <p:spPr>
          <a:xfrm rot="-5456">
            <a:off x="698505" y="768350"/>
            <a:ext cx="800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6C6A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4"/>
          <p:cNvSpPr/>
          <p:nvPr/>
        </p:nvSpPr>
        <p:spPr>
          <a:xfrm>
            <a:off x="571500" y="809625"/>
            <a:ext cx="8001000" cy="266700"/>
          </a:xfrm>
          <a:prstGeom prst="roundRect">
            <a:avLst>
              <a:gd name="adj" fmla="val 0"/>
            </a:avLst>
          </a:prstGeom>
          <a:solidFill>
            <a:srgbClr val="46C6A9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0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666750" y="847725"/>
            <a:ext cx="1714500" cy="19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风险</a:t>
            </a:r>
            <a:endParaRPr lang="en-US" sz="100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2428875" y="847725"/>
            <a:ext cx="1714500" cy="19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影响</a:t>
            </a:r>
            <a:endParaRPr lang="en-US" sz="100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AutoShape 7"/>
          <p:cNvSpPr/>
          <p:nvPr/>
        </p:nvSpPr>
        <p:spPr>
          <a:xfrm>
            <a:off x="4191000" y="847725"/>
            <a:ext cx="4286250" cy="19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应对措施（已实现）</a:t>
            </a:r>
            <a:endParaRPr lang="en-US" sz="100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AutoShape 8"/>
          <p:cNvSpPr/>
          <p:nvPr/>
        </p:nvSpPr>
        <p:spPr>
          <a:xfrm>
            <a:off x="571500" y="1076325"/>
            <a:ext cx="8001000" cy="40005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0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Shape 9"/>
          <p:cNvSpPr/>
          <p:nvPr/>
        </p:nvSpPr>
        <p:spPr>
          <a:xfrm>
            <a:off x="666750" y="1143000"/>
            <a:ext cx="17145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i="0" u="none" strike="noStrike" kern="0">
                <a:solidFill>
                  <a:srgbClr val="FF9696">
                    <a:alpha val="94902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税务计算被改错</a:t>
            </a:r>
            <a:endParaRPr lang="en-US" sz="1000" b="1" i="0" u="none" strike="noStrike" kern="0">
              <a:solidFill>
                <a:srgbClr val="FF9696">
                  <a:alpha val="94902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AutoShape 10"/>
          <p:cNvSpPr/>
          <p:nvPr/>
        </p:nvSpPr>
        <p:spPr>
          <a:xfrm>
            <a:off x="2428875" y="1143000"/>
            <a:ext cx="17145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0" i="0" u="none" strike="noStrike" kern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全集团判定系统性偏差</a:t>
            </a:r>
            <a:endParaRPr lang="en-US" sz="1000" b="0" i="0" u="none" strike="noStrike" kern="0">
              <a:solidFill>
                <a:srgbClr val="FFFFFF">
                  <a:alpha val="8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AutoShape 11"/>
          <p:cNvSpPr/>
          <p:nvPr/>
        </p:nvSpPr>
        <p:spPr>
          <a:xfrm>
            <a:off x="4191000" y="1143000"/>
            <a:ext cx="428625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0" i="0" u="none" strike="noStrike" kern="0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引擎独立模块 + 边界值测试 + 修改须双人复核</a:t>
            </a:r>
            <a:endParaRPr lang="en-US" sz="1000" b="0" i="0" u="none" strike="noStrike" kern="0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AutoShape 12"/>
          <p:cNvSpPr/>
          <p:nvPr/>
        </p:nvSpPr>
        <p:spPr>
          <a:xfrm>
            <a:off x="571500" y="1476375"/>
            <a:ext cx="8001000" cy="40005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0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AutoShape 13"/>
          <p:cNvSpPr/>
          <p:nvPr/>
        </p:nvSpPr>
        <p:spPr>
          <a:xfrm>
            <a:off x="666750" y="1543050"/>
            <a:ext cx="17145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i="0" u="none" strike="noStrike" kern="0">
                <a:solidFill>
                  <a:srgbClr val="FF9696">
                    <a:alpha val="94902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AI 输出污染数据</a:t>
            </a:r>
            <a:endParaRPr lang="en-US" sz="1000" b="1" i="0" u="none" strike="noStrike" kern="0">
              <a:solidFill>
                <a:srgbClr val="FF9696">
                  <a:alpha val="94902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AutoShape 14"/>
          <p:cNvSpPr/>
          <p:nvPr/>
        </p:nvSpPr>
        <p:spPr>
          <a:xfrm>
            <a:off x="2428875" y="1543050"/>
            <a:ext cx="17145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0" i="0" u="none" strike="noStrike" kern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脏数据进入业务流</a:t>
            </a:r>
            <a:endParaRPr lang="en-US" sz="1000" b="0" i="0" u="none" strike="noStrike" kern="0">
              <a:solidFill>
                <a:srgbClr val="FFFFFF">
                  <a:alpha val="8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AutoShape 15"/>
          <p:cNvSpPr/>
          <p:nvPr/>
        </p:nvSpPr>
        <p:spPr>
          <a:xfrm>
            <a:off x="4191000" y="1543050"/>
            <a:ext cx="428625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0" i="0" u="none" strike="noStrike" kern="0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数据库「人工确认门」+ 置信度 &lt; 60% 强制人工</a:t>
            </a:r>
            <a:endParaRPr lang="en-US" sz="1000" b="0" i="0" u="none" strike="noStrike" kern="0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" name="AutoShape 16"/>
          <p:cNvSpPr/>
          <p:nvPr/>
        </p:nvSpPr>
        <p:spPr>
          <a:xfrm>
            <a:off x="571500" y="1876425"/>
            <a:ext cx="8001000" cy="40005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0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" name="AutoShape 17"/>
          <p:cNvSpPr/>
          <p:nvPr/>
        </p:nvSpPr>
        <p:spPr>
          <a:xfrm>
            <a:off x="666750" y="1943100"/>
            <a:ext cx="17145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i="0" u="none" strike="noStrike" kern="0">
                <a:solidFill>
                  <a:srgbClr val="FF9696">
                    <a:alpha val="94902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AI 给出补足税建议</a:t>
            </a:r>
            <a:endParaRPr lang="en-US" sz="1000" b="1" i="0" u="none" strike="noStrike" kern="0">
              <a:solidFill>
                <a:srgbClr val="FF9696">
                  <a:alpha val="94902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4" name="AutoShape 18"/>
          <p:cNvSpPr/>
          <p:nvPr/>
        </p:nvSpPr>
        <p:spPr>
          <a:xfrm>
            <a:off x="2428875" y="1943100"/>
            <a:ext cx="17145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0" i="0" u="none" strike="noStrike" kern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越过产品红线</a:t>
            </a:r>
            <a:endParaRPr lang="en-US" sz="1000" b="0" i="0" u="none" strike="noStrike" kern="0">
              <a:solidFill>
                <a:srgbClr val="FFFFFF">
                  <a:alpha val="8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0" name="AutoShape 19"/>
          <p:cNvSpPr/>
          <p:nvPr/>
        </p:nvSpPr>
        <p:spPr>
          <a:xfrm>
            <a:off x="4191000" y="1943100"/>
            <a:ext cx="428625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0" i="0" u="none" strike="noStrike" kern="0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提示词硬约束 + 关键词过滤 + 免责声明</a:t>
            </a:r>
            <a:endParaRPr lang="en-US" sz="1000" b="0" i="0" u="none" strike="noStrike" kern="0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AutoShape 20"/>
          <p:cNvSpPr/>
          <p:nvPr/>
        </p:nvSpPr>
        <p:spPr>
          <a:xfrm>
            <a:off x="571500" y="2276475"/>
            <a:ext cx="8001000" cy="40005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0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" name="AutoShape 21"/>
          <p:cNvSpPr/>
          <p:nvPr/>
        </p:nvSpPr>
        <p:spPr>
          <a:xfrm>
            <a:off x="666750" y="2343150"/>
            <a:ext cx="17145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i="0" u="none" strike="noStrike" kern="0">
                <a:solidFill>
                  <a:srgbClr val="FF9696">
                    <a:alpha val="94902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AI 服务不可用</a:t>
            </a:r>
            <a:endParaRPr lang="en-US" sz="1000" b="1" i="0" u="none" strike="noStrike" kern="0">
              <a:solidFill>
                <a:srgbClr val="FF9696">
                  <a:alpha val="94902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9" name="AutoShape 22"/>
          <p:cNvSpPr/>
          <p:nvPr/>
        </p:nvSpPr>
        <p:spPr>
          <a:xfrm>
            <a:off x="2428875" y="2343150"/>
            <a:ext cx="17145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0" i="0" u="none" strike="noStrike" kern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流程中断</a:t>
            </a:r>
            <a:endParaRPr lang="en-US" sz="1000" b="0" i="0" u="none" strike="noStrike" kern="0">
              <a:solidFill>
                <a:srgbClr val="FFFFFF">
                  <a:alpha val="8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0" name="AutoShape 23"/>
          <p:cNvSpPr/>
          <p:nvPr/>
        </p:nvSpPr>
        <p:spPr>
          <a:xfrm>
            <a:off x="4191000" y="2343150"/>
            <a:ext cx="428625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0" i="0" u="none" strike="noStrike" kern="0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5s 超时 + 自动降级，三项测试照常运行</a:t>
            </a:r>
            <a:endParaRPr lang="en-US" sz="1000" b="0" i="0" u="none" strike="noStrike" kern="0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" name="AutoShape 24"/>
          <p:cNvSpPr/>
          <p:nvPr/>
        </p:nvSpPr>
        <p:spPr>
          <a:xfrm>
            <a:off x="571500" y="2676525"/>
            <a:ext cx="8001000" cy="40005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0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" name="AutoShape 25"/>
          <p:cNvSpPr/>
          <p:nvPr/>
        </p:nvSpPr>
        <p:spPr>
          <a:xfrm>
            <a:off x="666750" y="2743200"/>
            <a:ext cx="17145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i="0" u="none" strike="noStrike" kern="0">
                <a:solidFill>
                  <a:srgbClr val="FF9696">
                    <a:alpha val="94902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子公司越权看他人数据</a:t>
            </a:r>
            <a:endParaRPr lang="en-US" sz="1000" b="1" i="0" u="none" strike="noStrike" kern="0">
              <a:solidFill>
                <a:srgbClr val="FF9696">
                  <a:alpha val="94902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3" name="AutoShape 26"/>
          <p:cNvSpPr/>
          <p:nvPr/>
        </p:nvSpPr>
        <p:spPr>
          <a:xfrm>
            <a:off x="2428875" y="2743200"/>
            <a:ext cx="17145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0" i="0" u="none" strike="noStrike" kern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税务数据泄露</a:t>
            </a:r>
            <a:endParaRPr lang="en-US" sz="1000" b="0" i="0" u="none" strike="noStrike" kern="0">
              <a:solidFill>
                <a:srgbClr val="FFFFFF">
                  <a:alpha val="8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4" name="AutoShape 27"/>
          <p:cNvSpPr/>
          <p:nvPr/>
        </p:nvSpPr>
        <p:spPr>
          <a:xfrm>
            <a:off x="4191000" y="2743200"/>
            <a:ext cx="428625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0" i="0" u="none" strike="noStrike" kern="0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实体范围隔离，子公司只能访问自己的数据</a:t>
            </a:r>
            <a:endParaRPr lang="en-US" sz="1000" b="0" i="0" u="none" strike="noStrike" kern="0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5" name="AutoShape 28"/>
          <p:cNvSpPr/>
          <p:nvPr/>
        </p:nvSpPr>
        <p:spPr>
          <a:xfrm>
            <a:off x="571500" y="3076575"/>
            <a:ext cx="8001000" cy="40005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0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6" name="AutoShape 29"/>
          <p:cNvSpPr/>
          <p:nvPr/>
        </p:nvSpPr>
        <p:spPr>
          <a:xfrm>
            <a:off x="666750" y="3143250"/>
            <a:ext cx="17145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i="0" u="none" strike="noStrike" kern="0">
                <a:solidFill>
                  <a:srgbClr val="FF9696">
                    <a:alpha val="94902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政策变化（阈值更新）</a:t>
            </a:r>
            <a:endParaRPr lang="en-US" sz="1000" b="1" i="0" u="none" strike="noStrike" kern="0">
              <a:solidFill>
                <a:srgbClr val="FF9696">
                  <a:alpha val="94902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7" name="AutoShape 30"/>
          <p:cNvSpPr/>
          <p:nvPr/>
        </p:nvSpPr>
        <p:spPr>
          <a:xfrm>
            <a:off x="2428875" y="3143250"/>
            <a:ext cx="171450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0" i="0" u="none" strike="noStrike" kern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判定口径过时</a:t>
            </a:r>
            <a:endParaRPr lang="en-US" sz="1000" b="0" i="0" u="none" strike="noStrike" kern="0">
              <a:solidFill>
                <a:srgbClr val="FFFFFF">
                  <a:alpha val="8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" name="AutoShape 31"/>
          <p:cNvSpPr/>
          <p:nvPr/>
        </p:nvSpPr>
        <p:spPr>
          <a:xfrm>
            <a:off x="4191000" y="3143250"/>
            <a:ext cx="4286250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0" i="0" u="none" strike="noStrike" kern="0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阈值集中配置 + 版本化迁移，可随 OECD 指引更新</a:t>
            </a:r>
            <a:endParaRPr lang="en-US" sz="1000" b="0" i="0" u="none" strike="noStrike" kern="0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9" name="AutoShape 32"/>
          <p:cNvSpPr/>
          <p:nvPr/>
        </p:nvSpPr>
        <p:spPr>
          <a:xfrm>
            <a:off x="571500" y="3667125"/>
            <a:ext cx="8001000" cy="523875"/>
          </a:xfrm>
          <a:prstGeom prst="roundRect">
            <a:avLst>
              <a:gd name="adj" fmla="val 19393"/>
            </a:avLst>
          </a:prstGeom>
          <a:gradFill rotWithShape="1">
            <a:gsLst>
              <a:gs pos="0">
                <a:srgbClr val="46C6A9">
                  <a:alpha val="18000"/>
                </a:srgbClr>
              </a:gs>
              <a:gs pos="100000">
                <a:srgbClr val="46C6A9">
                  <a:alpha val="5000"/>
                </a:srgbClr>
              </a:gs>
            </a:gsLst>
            <a:lin ang="0"/>
          </a:gradFill>
          <a:ln w="12700" cap="flat" cmpd="sng">
            <a:solidFill>
              <a:srgbClr val="46C6A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0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" name="AutoShape 33"/>
          <p:cNvSpPr/>
          <p:nvPr/>
        </p:nvSpPr>
        <p:spPr>
          <a:xfrm>
            <a:off x="762000" y="3762375"/>
            <a:ext cx="7620000" cy="2095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i="0" u="none" strike="noStrike" kern="0">
                <a:solidFill>
                  <a:srgbClr val="46C6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测试保障</a:t>
            </a:r>
            <a:endParaRPr lang="en-US" sz="1000" b="1" i="0" u="none" strike="noStrike" kern="0">
              <a:solidFill>
                <a:srgbClr val="46C6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" name="AutoShape 34"/>
          <p:cNvSpPr/>
          <p:nvPr/>
        </p:nvSpPr>
        <p:spPr>
          <a:xfrm>
            <a:off x="762000" y="3981450"/>
            <a:ext cx="7620000" cy="1714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0" i="0" u="none" strike="noStrike" kern="0">
                <a:solidFill>
                  <a:srgbClr val="FFFFFF">
                    <a:alpha val="85098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后端 53 项 + 前端 8 项测试全部通过，覆盖三项测试边界值（ETR 15.00% vs 14.99%）、越权访问、AI 降级等场景</a:t>
            </a:r>
            <a:endParaRPr lang="en-US" sz="1000" b="0" i="0" u="none" strike="noStrike" kern="0">
              <a:solidFill>
                <a:srgbClr val="FFFFFF">
                  <a:alpha val="85098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2" name="文本框 3"/>
          <p:cNvSpPr txBox="1">
            <a:spLocks noChangeArrowheads="1"/>
          </p:cNvSpPr>
          <p:nvPr/>
        </p:nvSpPr>
        <p:spPr bwMode="auto">
          <a:xfrm>
            <a:off x="3530918" y="4610100"/>
            <a:ext cx="1965325" cy="220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kumimoji="1"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LOGO</a:t>
            </a:r>
            <a:r>
              <a:rPr kumimoji="1"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 </a:t>
            </a:r>
            <a:r>
              <a:rPr kumimoji="1"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|</a:t>
            </a:r>
            <a:r>
              <a:rPr kumimoji="1"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 </a:t>
            </a:r>
            <a:r>
              <a:rPr kumimoji="1"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COMPANY</a:t>
            </a:r>
            <a:endParaRPr kumimoji="1" lang="zh-CN" altLang="en-US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19363"/>
            <a:ext cx="9144000" cy="262413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>
              <a:solidFill>
                <a:prstClr val="white"/>
              </a:solidFill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583690" y="1522730"/>
            <a:ext cx="7363460" cy="62357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>
              <a:solidFill>
                <a:prstClr val="white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599565" y="1541780"/>
            <a:ext cx="7347585" cy="10763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4000" b="1" dirty="0">
                <a:solidFill>
                  <a:prstClr val="white"/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rPr>
              <a:t>从当前简化假设到生产级演进</a:t>
            </a:r>
            <a:endParaRPr kumimoji="1" lang="zh-CN" altLang="en-US" sz="4000" b="1" dirty="0">
              <a:solidFill>
                <a:prstClr val="white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4000" b="1" dirty="0">
              <a:solidFill>
                <a:prstClr val="white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628" name="矩形 4"/>
          <p:cNvSpPr>
            <a:spLocks noChangeArrowheads="1"/>
          </p:cNvSpPr>
          <p:nvPr/>
        </p:nvSpPr>
        <p:spPr bwMode="auto">
          <a:xfrm>
            <a:off x="4743450" y="2706688"/>
            <a:ext cx="4203700" cy="291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endParaRPr kumimoji="1" lang="en-US" altLang="zh-CN" sz="1000">
              <a:solidFill>
                <a:schemeClr val="bg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6633" name="图片 6" descr="mac whit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5885" y="3001645"/>
            <a:ext cx="1491615" cy="1416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4" name="图片 7" descr="XIBPemROQ9iJdUMOOBmG_IMG_1863-1200x800.jpg"/>
          <p:cNvPicPr>
            <a:picLocks noChangeAspect="1"/>
          </p:cNvPicPr>
          <p:nvPr/>
        </p:nvPicPr>
        <p:blipFill>
          <a:blip r:embed="rId2"/>
          <a:srcRect t="7852" b="3679"/>
          <a:stretch>
            <a:fillRect/>
          </a:stretch>
        </p:blipFill>
        <p:spPr bwMode="auto">
          <a:xfrm>
            <a:off x="162560" y="3088640"/>
            <a:ext cx="1292225" cy="807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865188" y="174149"/>
            <a:ext cx="2265362" cy="56451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400" b="1" dirty="0">
                <a:solidFill>
                  <a:srgbClr val="222732"/>
                </a:solidFill>
                <a:latin typeface="+mn-lt"/>
                <a:ea typeface="+mn-ea"/>
              </a:rPr>
              <a:t>MORE THAN TEMPLATE</a:t>
            </a:r>
            <a:endParaRPr kumimoji="1" lang="en-US" altLang="zh-CN" sz="1400" b="1" dirty="0">
              <a:solidFill>
                <a:srgbClr val="22273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400" b="1" dirty="0">
                <a:solidFill>
                  <a:srgbClr val="222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已知简化与演进规划</a:t>
            </a:r>
            <a:endParaRPr kumimoji="1" lang="zh-CN" altLang="en-US" sz="1400" b="1" dirty="0">
              <a:solidFill>
                <a:srgbClr val="22273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69888" y="219075"/>
            <a:ext cx="495300" cy="474663"/>
          </a:xfrm>
          <a:prstGeom prst="rect">
            <a:avLst/>
          </a:prstGeom>
          <a:noFill/>
          <a:ln>
            <a:solidFill>
              <a:srgbClr val="2227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800" b="1" dirty="0">
                <a:solidFill>
                  <a:srgbClr val="222732"/>
                </a:solidFill>
              </a:rPr>
              <a:t>LOGO</a:t>
            </a:r>
            <a:endParaRPr kumimoji="1" lang="zh-CN" altLang="en-US" sz="800" b="1" dirty="0">
              <a:solidFill>
                <a:srgbClr val="222732"/>
              </a:solidFill>
            </a:endParaRPr>
          </a:p>
        </p:txBody>
      </p:sp>
      <p:sp>
        <p:nvSpPr>
          <p:cNvPr id="26632" name="文本框 12"/>
          <p:cNvSpPr txBox="1">
            <a:spLocks noChangeArrowheads="1"/>
          </p:cNvSpPr>
          <p:nvPr/>
        </p:nvSpPr>
        <p:spPr bwMode="auto">
          <a:xfrm>
            <a:off x="3589338" y="4737100"/>
            <a:ext cx="1965325" cy="220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kumimoji="1"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LOGO</a:t>
            </a:r>
            <a:r>
              <a:rPr kumimoji="1"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 </a:t>
            </a:r>
            <a:r>
              <a:rPr kumimoji="1"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|</a:t>
            </a:r>
            <a:r>
              <a:rPr kumimoji="1" lang="zh-CN" altLang="en-US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 </a:t>
            </a:r>
            <a:r>
              <a:rPr kumimoji="1" lang="en-US" altLang="zh-CN" sz="1000">
                <a:solidFill>
                  <a:srgbClr val="FFFFFF"/>
                </a:solidFill>
                <a:latin typeface="Century Gothic" panose="020B0502020202020204"/>
                <a:ea typeface="微软雅黑" panose="020B0503020204020204" pitchFamily="34" charset="-122"/>
              </a:rPr>
              <a:t>COMPANY</a:t>
            </a:r>
            <a:endParaRPr kumimoji="1" lang="zh-CN" altLang="en-US" sz="1000">
              <a:solidFill>
                <a:srgbClr val="FFFFFF"/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graphicFrame>
        <p:nvGraphicFramePr>
          <p:cNvPr id="13" name="Table 8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815465" y="2651125"/>
          <a:ext cx="6972300" cy="1962150"/>
        </p:xfrm>
        <a:graphic>
          <a:graphicData uri="http://schemas.openxmlformats.org/drawingml/2006/table">
            <a:tbl>
              <a:tblPr/>
              <a:tblGrid>
                <a:gridCol w="2979420"/>
                <a:gridCol w="3992880"/>
              </a:tblGrid>
              <a:tr h="377190">
                <a:tc>
                  <a:txBody>
                    <a:bodyPr rot="0" wrap="square"/>
                    <a:p>
                      <a:pPr algn="l">
                        <a:defRPr sz="1100" b="1" i="0" strike="noStrike">
                          <a:solidFill>
                            <a:srgbClr val="1A1A2E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1" i="0" kern="13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Yu Gothic UI" panose="020B0500000000000000" charset="-128"/>
                          <a:ea typeface="微软雅黑" panose="020B0503020204020204" pitchFamily="34" charset="-122"/>
                          <a:cs typeface="&quot;FZYaYiHei GB18030L2 R&quot;, sans-serif"/>
                        </a:rPr>
                        <a:t>现状（简化假设）</a:t>
                      </a:r>
                      <a:endParaRPr sz="1000" b="1" i="0" kern="13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Yu Gothic UI" panose="020B0500000000000000" charset="-128"/>
                        <a:ea typeface="微软雅黑" panose="020B0503020204020204" pitchFamily="34" charset="-122"/>
                        <a:cs typeface="&quot;FZYaYiHei GB18030L2 R&quot;, sans-serif"/>
                      </a:endParaRPr>
                    </a:p>
                  </a:txBody>
                  <a:tcPr marL="152400" marR="152400" marT="104775" marB="104775" vert="horz" anchor="ctr" anchorCtr="0">
                    <a:lnL w="25400">
                      <a:solidFill>
                        <a:srgbClr val="3D5A80">
                          <a:alpha val="100000"/>
                        </a:srgbClr>
                      </a:solidFill>
                    </a:lnL>
                    <a:lnR w="25400">
                      <a:solidFill>
                        <a:srgbClr val="3D5A80">
                          <a:alpha val="100000"/>
                        </a:srgbClr>
                      </a:solidFill>
                    </a:lnR>
                    <a:lnT w="25400">
                      <a:solidFill>
                        <a:srgbClr val="3D5A80">
                          <a:alpha val="100000"/>
                        </a:srgbClr>
                      </a:solidFill>
                    </a:lnT>
                    <a:lnB w="25400">
                      <a:solidFill>
                        <a:srgbClr val="3D5A80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>
                  <a:txBody>
                    <a:bodyPr rot="0" wrap="square"/>
                    <a:p>
                      <a:pPr algn="l">
                        <a:defRPr sz="1100" b="1" i="0" strike="noStrike">
                          <a:solidFill>
                            <a:srgbClr val="1A1A2E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1" i="0" kern="13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Yu Gothic UI" panose="020B0500000000000000" charset="-128"/>
                          <a:ea typeface="微软雅黑" panose="020B0503020204020204" pitchFamily="34" charset="-122"/>
                          <a:cs typeface="&quot;FZYaYiHei GB18030L2 R&quot;, sans-serif"/>
                        </a:rPr>
                        <a:t>演进方向</a:t>
                      </a:r>
                      <a:endParaRPr sz="1000" b="1" i="0" kern="13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Yu Gothic UI" panose="020B0500000000000000" charset="-128"/>
                        <a:ea typeface="微软雅黑" panose="020B0503020204020204" pitchFamily="34" charset="-122"/>
                        <a:cs typeface="&quot;FZYaYiHei GB18030L2 R&quot;, sans-serif"/>
                      </a:endParaRPr>
                    </a:p>
                  </a:txBody>
                  <a:tcPr marL="152400" marR="152400" marT="104775" marB="104775" vert="horz" anchor="ctr" anchorCtr="0">
                    <a:lnL w="25400">
                      <a:solidFill>
                        <a:srgbClr val="3D5A80">
                          <a:alpha val="100000"/>
                        </a:srgbClr>
                      </a:solidFill>
                    </a:lnL>
                    <a:lnR w="25400">
                      <a:solidFill>
                        <a:srgbClr val="3D5A80">
                          <a:alpha val="100000"/>
                        </a:srgbClr>
                      </a:solidFill>
                    </a:lnR>
                    <a:lnT w="25400">
                      <a:solidFill>
                        <a:srgbClr val="3D5A80">
                          <a:alpha val="100000"/>
                        </a:srgbClr>
                      </a:solidFill>
                    </a:lnT>
                    <a:lnB w="25400">
                      <a:solidFill>
                        <a:srgbClr val="3D5A80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396240">
                <a:tc>
                  <a:txBody>
                    <a:bodyPr rot="0" wrap="square"/>
                    <a:p>
                      <a:pPr algn="l">
                        <a:defRPr sz="900" b="0" i="0" strike="noStrike">
                          <a:solidFill>
                            <a:srgbClr val="3D5A80">
                              <a:alpha val="70196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defRPr>
                      </a:pPr>
                      <a:r>
                        <a:rPr sz="1000" b="0" i="0" kern="130">
                          <a:solidFill>
                            <a:schemeClr val="bg1">
                              <a:alpha val="70196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SBIE</a:t>
                      </a:r>
                      <a:r>
                        <a:rPr sz="1000" b="0" i="0" kern="130">
                          <a:solidFill>
                            <a:schemeClr val="bg1">
                              <a:alpha val="100000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SBIE 系数固定 10% / 8%</a:t>
                      </a:r>
                      <a:endParaRPr sz="1000" b="0" i="0" kern="130">
                        <a:solidFill>
                          <a:schemeClr val="bg1">
                            <a:alpha val="100000"/>
                          </a:schemeClr>
                        </a:solidFill>
                        <a:latin typeface="Yu Gothic UI" panose="020B0500000000000000" charset="-128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114300" marB="114300" vert="horz" anchor="t" anchorCtr="0">
                    <a:lnL w="25400">
                      <a:solidFill>
                        <a:srgbClr val="3D5A80">
                          <a:alpha val="100000"/>
                        </a:srgbClr>
                      </a:solidFill>
                    </a:lnL>
                    <a:lnR w="25400">
                      <a:solidFill>
                        <a:srgbClr val="3D5A80">
                          <a:alpha val="100000"/>
                        </a:srgbClr>
                      </a:solidFill>
                    </a:lnR>
                    <a:lnT w="25400">
                      <a:solidFill>
                        <a:srgbClr val="3D5A80">
                          <a:alpha val="100000"/>
                        </a:srgbClr>
                      </a:solidFill>
                    </a:lnT>
                    <a:lnB w="25400">
                      <a:solidFill>
                        <a:srgbClr val="3D5A8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900" b="0" i="0" strike="noStrike">
                          <a:solidFill>
                            <a:srgbClr val="3D5A80">
                              <a:alpha val="70196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defRPr>
                      </a:pPr>
                      <a:r>
                        <a:rPr sz="1000" b="0" i="0" kern="130">
                          <a:solidFill>
                            <a:schemeClr val="bg1">
                              <a:alpha val="70196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SBIE</a:t>
                      </a:r>
                      <a:r>
                        <a:rPr sz="1000" b="0" i="0" kern="130">
                          <a:solidFill>
                            <a:schemeClr val="bg1">
                              <a:alpha val="100000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 OECD 逐年递减指引实现参数化配置</a:t>
                      </a:r>
                      <a:endParaRPr sz="1000" b="0" i="0" kern="130">
                        <a:solidFill>
                          <a:schemeClr val="bg1">
                            <a:alpha val="100000"/>
                          </a:schemeClr>
                        </a:solidFill>
                        <a:latin typeface="Yu Gothic UI" panose="020B0500000000000000" charset="-128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114300" marB="114300" vert="horz" anchor="t" anchorCtr="0">
                    <a:lnL w="25400">
                      <a:solidFill>
                        <a:srgbClr val="3D5A80">
                          <a:alpha val="100000"/>
                        </a:srgbClr>
                      </a:solidFill>
                    </a:lnL>
                    <a:lnR w="25400">
                      <a:solidFill>
                        <a:srgbClr val="3D5A80">
                          <a:alpha val="100000"/>
                        </a:srgbClr>
                      </a:solidFill>
                    </a:lnR>
                    <a:lnT w="25400">
                      <a:solidFill>
                        <a:srgbClr val="3D5A80">
                          <a:alpha val="100000"/>
                        </a:srgbClr>
                      </a:solidFill>
                    </a:lnT>
                    <a:lnB w="25400">
                      <a:solidFill>
                        <a:srgbClr val="3D5A80">
                          <a:alpha val="100000"/>
                        </a:srgbClr>
                      </a:solidFill>
                    </a:lnB>
                  </a:tcPr>
                </a:tc>
              </a:tr>
              <a:tr h="396240">
                <a:tc>
                  <a:txBody>
                    <a:bodyPr rot="0" wrap="square"/>
                    <a:p>
                      <a:pPr algn="l">
                        <a:defRPr sz="900" b="0" i="0" strike="noStrike">
                          <a:solidFill>
                            <a:srgbClr val="3D5A80">
                              <a:alpha val="70196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defRPr>
                      </a:pPr>
                      <a:r>
                        <a:rPr sz="1000" b="0" i="0" kern="130">
                          <a:solidFill>
                            <a:schemeClr val="bg1">
                              <a:alpha val="70196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CbCR</a:t>
                      </a:r>
                      <a:r>
                        <a:rPr sz="1000" b="0" i="0" kern="130">
                          <a:solidFill>
                            <a:schemeClr val="bg1">
                              <a:alpha val="100000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手动录入 / Excel 模板上传</a:t>
                      </a:r>
                      <a:endParaRPr sz="1000" b="0" i="0" kern="130">
                        <a:solidFill>
                          <a:schemeClr val="bg1">
                            <a:alpha val="100000"/>
                          </a:schemeClr>
                        </a:solidFill>
                        <a:latin typeface="Yu Gothic UI" panose="020B0500000000000000" charset="-128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114300" marB="114300" vert="horz" anchor="t" anchorCtr="0">
                    <a:lnL w="25400">
                      <a:solidFill>
                        <a:srgbClr val="3D5A80">
                          <a:alpha val="100000"/>
                        </a:srgbClr>
                      </a:solidFill>
                    </a:lnL>
                    <a:lnR w="25400">
                      <a:solidFill>
                        <a:srgbClr val="3D5A80">
                          <a:alpha val="100000"/>
                        </a:srgbClr>
                      </a:solidFill>
                    </a:lnR>
                    <a:lnT w="25400">
                      <a:solidFill>
                        <a:srgbClr val="3D5A80">
                          <a:alpha val="100000"/>
                        </a:srgbClr>
                      </a:solidFill>
                    </a:lnT>
                    <a:lnB w="25400">
                      <a:solidFill>
                        <a:srgbClr val="3D5A8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900" b="0" i="0" strike="noStrike">
                          <a:solidFill>
                            <a:srgbClr val="3D5A80">
                              <a:alpha val="70196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defRPr>
                      </a:pPr>
                      <a:r>
                        <a:rPr sz="1000" b="0" i="0" kern="130">
                          <a:solidFill>
                            <a:schemeClr val="bg1">
                              <a:alpha val="70196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CbCR</a:t>
                      </a:r>
                      <a:r>
                        <a:rPr sz="1000" b="0" i="0" kern="130">
                          <a:solidFill>
                            <a:schemeClr val="bg1">
                              <a:alpha val="100000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真实 CbCR XML 文件自动解析与校验</a:t>
                      </a:r>
                      <a:endParaRPr sz="1000" b="0" i="0" kern="130">
                        <a:solidFill>
                          <a:schemeClr val="bg1">
                            <a:alpha val="100000"/>
                          </a:schemeClr>
                        </a:solidFill>
                        <a:latin typeface="Yu Gothic UI" panose="020B0500000000000000" charset="-128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114300" marB="114300" vert="horz" anchor="t" anchorCtr="0">
                    <a:lnL w="25400">
                      <a:solidFill>
                        <a:srgbClr val="3D5A80">
                          <a:alpha val="100000"/>
                        </a:srgbClr>
                      </a:solidFill>
                    </a:lnL>
                    <a:lnR w="25400">
                      <a:solidFill>
                        <a:srgbClr val="3D5A80">
                          <a:alpha val="100000"/>
                        </a:srgbClr>
                      </a:solidFill>
                    </a:lnR>
                    <a:lnT w="25400">
                      <a:solidFill>
                        <a:srgbClr val="3D5A80">
                          <a:alpha val="100000"/>
                        </a:srgbClr>
                      </a:solidFill>
                    </a:lnT>
                    <a:lnB w="25400">
                      <a:solidFill>
                        <a:srgbClr val="3D5A80">
                          <a:alpha val="100000"/>
                        </a:srgbClr>
                      </a:solidFill>
                    </a:lnB>
                  </a:tcPr>
                </a:tc>
              </a:tr>
              <a:tr h="396240">
                <a:tc>
                  <a:txBody>
                    <a:bodyPr rot="0" wrap="square"/>
                    <a:p>
                      <a:pPr algn="l">
                        <a:defRPr sz="900" b="0" i="0" strike="noStrike">
                          <a:solidFill>
                            <a:srgbClr val="3D5A80">
                              <a:alpha val="70196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defRPr>
                      </a:pPr>
                      <a:r>
                        <a:rPr sz="1000" b="0" i="0" kern="130">
                          <a:solidFill>
                            <a:schemeClr val="bg1">
                              <a:alpha val="70196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FX</a:t>
                      </a:r>
                      <a:r>
                        <a:rPr sz="1000" b="0" i="0" kern="130">
                          <a:solidFill>
                            <a:schemeClr val="bg1">
                              <a:alpha val="100000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单一币种计算</a:t>
                      </a:r>
                      <a:endParaRPr sz="1000" b="0" i="0" kern="130">
                        <a:solidFill>
                          <a:schemeClr val="bg1">
                            <a:alpha val="100000"/>
                          </a:schemeClr>
                        </a:solidFill>
                        <a:latin typeface="Yu Gothic UI" panose="020B0500000000000000" charset="-128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114300" marB="114300" vert="horz" anchor="t" anchorCtr="0">
                    <a:lnL w="25400">
                      <a:solidFill>
                        <a:srgbClr val="3D5A80">
                          <a:alpha val="100000"/>
                        </a:srgbClr>
                      </a:solidFill>
                    </a:lnL>
                    <a:lnR w="25400">
                      <a:solidFill>
                        <a:srgbClr val="3D5A80">
                          <a:alpha val="100000"/>
                        </a:srgbClr>
                      </a:solidFill>
                    </a:lnR>
                    <a:lnT w="25400">
                      <a:solidFill>
                        <a:srgbClr val="3D5A80">
                          <a:alpha val="100000"/>
                        </a:srgbClr>
                      </a:solidFill>
                    </a:lnT>
                    <a:lnB w="25400">
                      <a:solidFill>
                        <a:srgbClr val="3D5A8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900" b="0" i="0" strike="noStrike">
                          <a:solidFill>
                            <a:srgbClr val="3D5A80">
                              <a:alpha val="70196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defRPr>
                      </a:pPr>
                      <a:r>
                        <a:rPr sz="1000" b="0" i="0" kern="130">
                          <a:solidFill>
                            <a:schemeClr val="bg1">
                              <a:alpha val="70196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FX</a:t>
                      </a:r>
                      <a:r>
                        <a:rPr sz="1000" b="0" i="0" kern="130">
                          <a:solidFill>
                            <a:schemeClr val="bg1">
                              <a:alpha val="100000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多币种支持 + 实时汇率自动换算</a:t>
                      </a:r>
                      <a:endParaRPr sz="1000" b="0" i="0" kern="130">
                        <a:solidFill>
                          <a:schemeClr val="bg1">
                            <a:alpha val="100000"/>
                          </a:schemeClr>
                        </a:solidFill>
                        <a:latin typeface="Yu Gothic UI" panose="020B0500000000000000" charset="-128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114300" marB="114300" vert="horz" anchor="t" anchorCtr="0">
                    <a:lnL w="25400">
                      <a:solidFill>
                        <a:srgbClr val="3D5A80">
                          <a:alpha val="100000"/>
                        </a:srgbClr>
                      </a:solidFill>
                    </a:lnL>
                    <a:lnR w="25400">
                      <a:solidFill>
                        <a:srgbClr val="3D5A80">
                          <a:alpha val="100000"/>
                        </a:srgbClr>
                      </a:solidFill>
                    </a:lnR>
                    <a:lnT w="25400">
                      <a:solidFill>
                        <a:srgbClr val="3D5A80">
                          <a:alpha val="100000"/>
                        </a:srgbClr>
                      </a:solidFill>
                    </a:lnT>
                    <a:lnB w="25400">
                      <a:solidFill>
                        <a:srgbClr val="3D5A80">
                          <a:alpha val="100000"/>
                        </a:srgbClr>
                      </a:solidFill>
                    </a:lnB>
                  </a:tcPr>
                </a:tc>
              </a:tr>
              <a:tr h="396240">
                <a:tc>
                  <a:txBody>
                    <a:bodyPr rot="0" wrap="square"/>
                    <a:p>
                      <a:pPr algn="l">
                        <a:defRPr sz="900" b="0" i="0" strike="noStrike">
                          <a:solidFill>
                            <a:srgbClr val="3D5A80">
                              <a:alpha val="70196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defRPr>
                      </a:pPr>
                      <a:r>
                        <a:rPr sz="1000" b="0" i="0" kern="130">
                          <a:solidFill>
                            <a:schemeClr val="bg1">
                              <a:alpha val="70196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THRESH</a:t>
                      </a:r>
                      <a:r>
                        <a:rPr sz="1000" b="0" i="0" kern="130">
                          <a:solidFill>
                            <a:schemeClr val="bg1">
                              <a:alpha val="100000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阈值覆盖至 2026 年</a:t>
                      </a:r>
                      <a:endParaRPr sz="1000" b="0" i="0" kern="130">
                        <a:solidFill>
                          <a:schemeClr val="bg1">
                            <a:alpha val="100000"/>
                          </a:schemeClr>
                        </a:solidFill>
                        <a:latin typeface="Yu Gothic UI" panose="020B0500000000000000" charset="-128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114300" marB="114300" vert="horz" anchor="t" anchorCtr="0">
                    <a:lnL w="25400">
                      <a:solidFill>
                        <a:srgbClr val="3D5A80">
                          <a:alpha val="100000"/>
                        </a:srgbClr>
                      </a:solidFill>
                    </a:lnL>
                    <a:lnR w="25400">
                      <a:solidFill>
                        <a:srgbClr val="3D5A80">
                          <a:alpha val="100000"/>
                        </a:srgbClr>
                      </a:solidFill>
                    </a:lnR>
                    <a:lnT w="25400">
                      <a:solidFill>
                        <a:srgbClr val="3D5A80">
                          <a:alpha val="100000"/>
                        </a:srgbClr>
                      </a:solidFill>
                    </a:lnT>
                    <a:lnB w="25400">
                      <a:solidFill>
                        <a:srgbClr val="3D5A8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900" b="0" i="0" strike="noStrike">
                          <a:solidFill>
                            <a:srgbClr val="3D5A80">
                              <a:alpha val="70196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defRPr>
                      </a:pPr>
                      <a:r>
                        <a:rPr sz="1000" b="0" i="0" kern="130">
                          <a:solidFill>
                            <a:schemeClr val="bg1">
                              <a:alpha val="70196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THRESH</a:t>
                      </a:r>
                      <a:r>
                        <a:rPr sz="1000" b="0" i="0" kern="130">
                          <a:solidFill>
                            <a:schemeClr val="bg1">
                              <a:alpha val="100000"/>
                            </a:schemeClr>
                          </a:solidFill>
                          <a:latin typeface="Yu Gothic UI" panose="020B0500000000000000" charset="-128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2027+ 新阈值自动更新与版本化管理</a:t>
                      </a:r>
                      <a:endParaRPr sz="1000" b="0" i="0" kern="130">
                        <a:solidFill>
                          <a:schemeClr val="bg1">
                            <a:alpha val="100000"/>
                          </a:schemeClr>
                        </a:solidFill>
                        <a:latin typeface="Yu Gothic UI" panose="020B0500000000000000" charset="-128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114300" marB="114300" vert="horz" anchor="t" anchorCtr="0">
                    <a:lnL w="25400">
                      <a:solidFill>
                        <a:srgbClr val="3D5A80">
                          <a:alpha val="100000"/>
                        </a:srgbClr>
                      </a:solidFill>
                    </a:lnL>
                    <a:lnR w="25400">
                      <a:solidFill>
                        <a:srgbClr val="3D5A80">
                          <a:alpha val="100000"/>
                        </a:srgbClr>
                      </a:solidFill>
                    </a:lnR>
                    <a:lnT w="25400">
                      <a:solidFill>
                        <a:srgbClr val="3D5A80">
                          <a:alpha val="100000"/>
                        </a:srgbClr>
                      </a:solidFill>
                    </a:lnT>
                    <a:lnB w="25400">
                      <a:solidFill>
                        <a:srgbClr val="3D5A80">
                          <a:alpha val="10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6"/>
          <p:cNvSpPr txBox="1"/>
          <p:nvPr/>
        </p:nvSpPr>
        <p:spPr>
          <a:xfrm>
            <a:off x="370205" y="808355"/>
            <a:ext cx="8401685" cy="56261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1" strike="noStrike">
                <a:solidFill>
                  <a:srgbClr val="1A1A2E">
                    <a:alpha val="78039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当前版本 基于合理简化假设完成核心功能验证，未来将在 SBIE 参数化、CbCR XML 自动解析、多币种汇率处理和</a:t>
            </a:r>
            <a:r>
              <a:rPr sz="1200" b="0" i="1" strike="noStrike">
                <a:solidFill>
                  <a:srgbClr val="1A1A2E">
                    <a:alpha val="78039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政策阈值自动更新四个方向持续演进，从工具走向生产级平台。</a:t>
            </a:r>
            <a:endParaRPr sz="1200" b="0" i="1" strike="noStrike">
              <a:solidFill>
                <a:srgbClr val="1A1A2E">
                  <a:alpha val="78039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292465" y="292036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2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3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4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5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6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7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8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9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10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11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12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13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14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15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16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17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18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19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20.xml><?xml version="1.0" encoding="utf-8"?>
<p:tagLst xmlns:p="http://schemas.openxmlformats.org/presentationml/2006/main">
  <p:tag name="KSO_WM_DIAGRAM_VIRTUALLY_FRAME" val="{&quot;height&quot;:247,&quot;left&quot;:48.91331216765114,&quot;top&quot;:87.5,&quot;width&quot;:577.7982272705233}"/>
</p:tagLst>
</file>

<file path=ppt/tags/tag21.xml><?xml version="1.0" encoding="utf-8"?>
<p:tagLst xmlns:p="http://schemas.openxmlformats.org/presentationml/2006/main">
  <p:tag name="TABLE_ENDDRAG_ORIGIN_RECT" val="548*154"/>
  <p:tag name="TABLE_ENDDRAG_RECT" val="162*210*549*154"/>
</p:tagLst>
</file>

<file path=ppt/theme/theme1.xml><?xml version="1.0" encoding="utf-8"?>
<a:theme xmlns:a="http://schemas.openxmlformats.org/drawingml/2006/main" name="Office 主题">
  <a:themeElements>
    <a:clrScheme name="自定义 11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46C6A9"/>
      </a:accent1>
      <a:accent2>
        <a:srgbClr val="222732"/>
      </a:accent2>
      <a:accent3>
        <a:srgbClr val="393D47"/>
      </a:accent3>
      <a:accent4>
        <a:srgbClr val="215968"/>
      </a:accent4>
      <a:accent5>
        <a:srgbClr val="BFBFBF"/>
      </a:accent5>
      <a:accent6>
        <a:srgbClr val="7F7F7F"/>
      </a:accent6>
      <a:hlink>
        <a:srgbClr val="F49100"/>
      </a:hlink>
      <a:folHlink>
        <a:srgbClr val="85DFD0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2360</Words>
  <Application>WPS 演示</Application>
  <PresentationFormat>全屏显示(16:9)</PresentationFormat>
  <Paragraphs>316</Paragraphs>
  <Slides>9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47" baseType="lpstr">
      <vt:lpstr>Arial</vt:lpstr>
      <vt:lpstr>宋体</vt:lpstr>
      <vt:lpstr>Wingdings</vt:lpstr>
      <vt:lpstr>Century Gothic</vt:lpstr>
      <vt:lpstr>微软雅黑</vt:lpstr>
      <vt:lpstr>Arial</vt:lpstr>
      <vt:lpstr>Calibri</vt:lpstr>
      <vt:lpstr>Arial Unicode MS</vt:lpstr>
      <vt:lpstr>Calibri</vt:lpstr>
      <vt:lpstr>Impact</vt:lpstr>
      <vt:lpstr>STHeitiSC-Light</vt:lpstr>
      <vt:lpstr>Segoe Print</vt:lpstr>
      <vt:lpstr>Helvetica</vt:lpstr>
      <vt:lpstr>HelveticaNeueLT Pro 67 MdCnO</vt:lpstr>
      <vt:lpstr>HelveticaNeueLT Pro 67 MdCn</vt:lpstr>
      <vt:lpstr>Hiragino Sans GB W3</vt:lpstr>
      <vt:lpstr>News Gothic MT</vt:lpstr>
      <vt:lpstr>Century Gothic</vt:lpstr>
      <vt:lpstr>HelveticaNeueLT Pro 67 MdCn</vt:lpstr>
      <vt:lpstr>HelveticaNeueLT Pro 67 MdCnO</vt:lpstr>
      <vt:lpstr>Hiragino Sans GB W3</vt:lpstr>
      <vt:lpstr>News Gothic MT</vt:lpstr>
      <vt:lpstr>STHeitiSC-Light</vt:lpstr>
      <vt:lpstr>Helvetica LT Pro</vt:lpstr>
      <vt:lpstr>HelveticaNeueLT Pro 55 Roman</vt:lpstr>
      <vt:lpstr>Saturday Sans Regular</vt:lpstr>
      <vt:lpstr>Times NR MT Pro Medium</vt:lpstr>
      <vt:lpstr>Alibaba PuHuiTi 3.0 55 Regular</vt:lpstr>
      <vt:lpstr>"FZYaYiHei GB18030L2 R", sans-serif</vt:lpstr>
      <vt:lpstr>Noto Sans SC</vt:lpstr>
      <vt:lpstr>Consolas</vt:lpstr>
      <vt:lpstr>Alibaba PuHuiTi 3.0 55 Regular</vt:lpstr>
      <vt:lpstr>Source Han Serif CN</vt:lpstr>
      <vt:lpstr>FZYaYiHei GB18030L2 R</vt:lpstr>
      <vt:lpstr>"FZYaYiHei GB18030L2 R", sans-serif</vt:lpstr>
      <vt:lpstr>FZYaYiHei GB18030L2 R</vt:lpstr>
      <vt:lpstr>Yu Gothic UI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哎呀小小草</dc:title>
  <dc:creator>哎呀小小草</dc:creator>
  <cp:keywords>https://800sucai.taobao.com/</cp:keywords>
  <dc:description>https://800sucai.taobao.com/</dc:description>
  <dc:subject>哎呀小小草</dc:subject>
  <cp:category>https://800sucai.taobao.com/</cp:category>
  <cp:lastModifiedBy>低眉浅嗅qx</cp:lastModifiedBy>
  <cp:revision>124</cp:revision>
  <dcterms:created xsi:type="dcterms:W3CDTF">2015-04-26T00:57:00Z</dcterms:created>
  <dcterms:modified xsi:type="dcterms:W3CDTF">2026-08-26T02:52:16Z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12BB5EAEFD7D4D47A4A568DFBE231A0C_13</vt:lpwstr>
  </property>
</Properties>
</file>